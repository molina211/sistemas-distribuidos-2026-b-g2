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966960" y="-731520"/>
            <a:ext cx="2926080" cy="2926080"/>
          </a:xfrm>
          <a:prstGeom prst="ellipse">
            <a:avLst/>
          </a:prstGeom>
          <a:solidFill>
            <a:srgbClr val="26326E"/>
          </a:solidFill>
          <a:ln/>
        </p:spPr>
      </p:sp>
      <p:sp>
        <p:nvSpPr>
          <p:cNvPr id="3" name="Shape 1"/>
          <p:cNvSpPr/>
          <p:nvPr/>
        </p:nvSpPr>
        <p:spPr>
          <a:xfrm>
            <a:off x="10972800" y="4206240"/>
            <a:ext cx="2194560" cy="2194560"/>
          </a:xfrm>
          <a:prstGeom prst="ellipse">
            <a:avLst/>
          </a:prstGeom>
          <a:solidFill>
            <a:srgbClr val="26326E"/>
          </a:solidFill>
          <a:ln/>
        </p:spPr>
      </p:sp>
      <p:sp>
        <p:nvSpPr>
          <p:cNvPr id="4" name="Shape 2"/>
          <p:cNvSpPr/>
          <p:nvPr/>
        </p:nvSpPr>
        <p:spPr>
          <a:xfrm>
            <a:off x="182880" y="5394960"/>
            <a:ext cx="1463040" cy="1463040"/>
          </a:xfrm>
          <a:prstGeom prst="ellipse">
            <a:avLst/>
          </a:prstGeom>
          <a:solidFill>
            <a:srgbClr val="26326E"/>
          </a:solidFill>
          <a:ln/>
        </p:spPr>
      </p:sp>
      <p:sp>
        <p:nvSpPr>
          <p:cNvPr id="5" name="Text 3"/>
          <p:cNvSpPr/>
          <p:nvPr/>
        </p:nvSpPr>
        <p:spPr>
          <a:xfrm>
            <a:off x="731520" y="1417320"/>
            <a:ext cx="9144000" cy="365760"/>
          </a:xfrm>
          <a:prstGeom prst="rect">
            <a:avLst/>
          </a:prstGeom>
          <a:noFill/>
          <a:ln/>
        </p:spPr>
        <p:txBody>
          <a:bodyPr wrap="square" rtlCol="0" anchor="ctr"/>
          <a:lstStyle/>
          <a:p>
            <a:pPr indent="0" marL="0">
              <a:buNone/>
            </a:pPr>
            <a:r>
              <a:rPr lang="en-US" sz="1400" b="1" spc="200" kern="0" dirty="0">
                <a:solidFill>
                  <a:srgbClr val="00C2D1"/>
                </a:solidFill>
                <a:latin typeface="Calibri" pitchFamily="34" charset="0"/>
                <a:ea typeface="Calibri" pitchFamily="34" charset="-122"/>
                <a:cs typeface="Calibri" pitchFamily="34" charset="-120"/>
              </a:rPr>
              <a:t>METODOLOGÍA · IA APLICADA AL DESARROLLO DE SOFTWARE</a:t>
            </a:r>
            <a:endParaRPr lang="en-US" sz="1400" dirty="0"/>
          </a:p>
        </p:txBody>
      </p:sp>
      <p:sp>
        <p:nvSpPr>
          <p:cNvPr id="6" name="Text 4"/>
          <p:cNvSpPr/>
          <p:nvPr/>
        </p:nvSpPr>
        <p:spPr>
          <a:xfrm>
            <a:off x="731520" y="1920240"/>
            <a:ext cx="10241280" cy="192024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Spec, Plan, Prompt y Skills: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arquitectura con gobernanza para agentes de IA</a:t>
            </a:r>
            <a:endParaRPr lang="en-US" sz="4000" dirty="0"/>
          </a:p>
        </p:txBody>
      </p:sp>
      <p:sp>
        <p:nvSpPr>
          <p:cNvPr id="7" name="Text 5"/>
          <p:cNvSpPr/>
          <p:nvPr/>
        </p:nvSpPr>
        <p:spPr>
          <a:xfrm>
            <a:off x="731520" y="3886200"/>
            <a:ext cx="8686800" cy="822960"/>
          </a:xfrm>
          <a:prstGeom prst="rect">
            <a:avLst/>
          </a:prstGeom>
          <a:noFill/>
          <a:ln/>
        </p:spPr>
        <p:txBody>
          <a:bodyPr wrap="square"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Cómo se diseña, gobierna y ejecuta el desarrollo asistido por IA en la industria — de la especificación al código, con permisos y arquitectura limpia.</a:t>
            </a:r>
            <a:endParaRPr lang="en-US" sz="1500" dirty="0"/>
          </a:p>
        </p:txBody>
      </p:sp>
      <p:sp>
        <p:nvSpPr>
          <p:cNvPr id="8" name="Shape 6"/>
          <p:cNvSpPr/>
          <p:nvPr/>
        </p:nvSpPr>
        <p:spPr>
          <a:xfrm>
            <a:off x="731520" y="5212080"/>
            <a:ext cx="1554480" cy="502920"/>
          </a:xfrm>
          <a:prstGeom prst="roundRect">
            <a:avLst>
              <a:gd name="adj" fmla="val 18182"/>
            </a:avLst>
          </a:prstGeom>
          <a:solidFill>
            <a:srgbClr val="2B3878"/>
          </a:solidFill>
          <a:ln/>
        </p:spPr>
      </p:sp>
      <p:sp>
        <p:nvSpPr>
          <p:cNvPr id="9" name="Text 7"/>
          <p:cNvSpPr/>
          <p:nvPr/>
        </p:nvSpPr>
        <p:spPr>
          <a:xfrm>
            <a:off x="731520" y="521208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p>
        </p:txBody>
      </p:sp>
      <p:sp>
        <p:nvSpPr>
          <p:cNvPr id="10" name="Shape 8"/>
          <p:cNvSpPr/>
          <p:nvPr/>
        </p:nvSpPr>
        <p:spPr>
          <a:xfrm>
            <a:off x="2514600" y="5212080"/>
            <a:ext cx="1554480" cy="502920"/>
          </a:xfrm>
          <a:prstGeom prst="roundRect">
            <a:avLst>
              <a:gd name="adj" fmla="val 18182"/>
            </a:avLst>
          </a:prstGeom>
          <a:solidFill>
            <a:srgbClr val="2B3878"/>
          </a:solidFill>
          <a:ln/>
        </p:spPr>
      </p:sp>
      <p:sp>
        <p:nvSpPr>
          <p:cNvPr id="11" name="Text 9"/>
          <p:cNvSpPr/>
          <p:nvPr/>
        </p:nvSpPr>
        <p:spPr>
          <a:xfrm>
            <a:off x="2514600" y="521208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12" name="Shape 10"/>
          <p:cNvSpPr/>
          <p:nvPr/>
        </p:nvSpPr>
        <p:spPr>
          <a:xfrm>
            <a:off x="4297680" y="5212080"/>
            <a:ext cx="1554480" cy="502920"/>
          </a:xfrm>
          <a:prstGeom prst="roundRect">
            <a:avLst>
              <a:gd name="adj" fmla="val 18182"/>
            </a:avLst>
          </a:prstGeom>
          <a:solidFill>
            <a:srgbClr val="2B3878"/>
          </a:solidFill>
          <a:ln/>
        </p:spPr>
      </p:sp>
      <p:sp>
        <p:nvSpPr>
          <p:cNvPr id="13" name="Text 11"/>
          <p:cNvSpPr/>
          <p:nvPr/>
        </p:nvSpPr>
        <p:spPr>
          <a:xfrm>
            <a:off x="4297680" y="521208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Prompt</a:t>
            </a:r>
            <a:endParaRPr lang="en-US" sz="1200" dirty="0"/>
          </a:p>
        </p:txBody>
      </p:sp>
      <p:sp>
        <p:nvSpPr>
          <p:cNvPr id="14" name="Shape 12"/>
          <p:cNvSpPr/>
          <p:nvPr/>
        </p:nvSpPr>
        <p:spPr>
          <a:xfrm>
            <a:off x="6080760" y="5212080"/>
            <a:ext cx="1554480" cy="502920"/>
          </a:xfrm>
          <a:prstGeom prst="roundRect">
            <a:avLst>
              <a:gd name="adj" fmla="val 18182"/>
            </a:avLst>
          </a:prstGeom>
          <a:solidFill>
            <a:srgbClr val="2B3878"/>
          </a:solidFill>
          <a:ln/>
        </p:spPr>
      </p:sp>
      <p:sp>
        <p:nvSpPr>
          <p:cNvPr id="15" name="Text 13"/>
          <p:cNvSpPr/>
          <p:nvPr/>
        </p:nvSpPr>
        <p:spPr>
          <a:xfrm>
            <a:off x="6080760" y="5212080"/>
            <a:ext cx="15544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Skills</a:t>
            </a:r>
            <a:endParaRPr lang="en-US" sz="1200" dirty="0"/>
          </a:p>
        </p:txBody>
      </p:sp>
      <p:sp>
        <p:nvSpPr>
          <p:cNvPr id="16" name="Shape 14"/>
          <p:cNvSpPr/>
          <p:nvPr/>
        </p:nvSpPr>
        <p:spPr>
          <a:xfrm>
            <a:off x="7863840" y="5212080"/>
            <a:ext cx="1554480" cy="502920"/>
          </a:xfrm>
          <a:prstGeom prst="roundRect">
            <a:avLst>
              <a:gd name="adj" fmla="val 18182"/>
            </a:avLst>
          </a:prstGeom>
          <a:solidFill>
            <a:srgbClr val="00C2D1"/>
          </a:solidFill>
          <a:ln/>
        </p:spPr>
      </p:sp>
      <p:sp>
        <p:nvSpPr>
          <p:cNvPr id="17" name="Text 15"/>
          <p:cNvSpPr/>
          <p:nvPr/>
        </p:nvSpPr>
        <p:spPr>
          <a:xfrm>
            <a:off x="7863840" y="5212080"/>
            <a:ext cx="1554480" cy="50292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Gobernanza</a:t>
            </a:r>
            <a:endParaRPr lang="en-US" sz="1200" dirty="0"/>
          </a:p>
        </p:txBody>
      </p:sp>
      <p:sp>
        <p:nvSpPr>
          <p:cNvPr id="18" name="Text 1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DE QUÉ VAMOS A HABLAR</a:t>
            </a:r>
            <a:endParaRPr lang="en-US" sz="1200" dirty="0"/>
          </a:p>
        </p:txBody>
      </p:sp>
      <p:sp>
        <p:nvSpPr>
          <p:cNvPr id="3" name="Text 1"/>
          <p:cNvSpPr/>
          <p:nvPr/>
        </p:nvSpPr>
        <p:spPr>
          <a:xfrm>
            <a:off x="548640" y="777240"/>
            <a:ext cx="10515600" cy="54864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El flujo completo: de la idea al código gobernado</a:t>
            </a:r>
            <a:endParaRPr lang="en-US" sz="2800" dirty="0"/>
          </a:p>
        </p:txBody>
      </p:sp>
      <p:sp>
        <p:nvSpPr>
          <p:cNvPr id="4" name="Shape 2"/>
          <p:cNvSpPr/>
          <p:nvPr/>
        </p:nvSpPr>
        <p:spPr>
          <a:xfrm>
            <a:off x="548640" y="1737360"/>
            <a:ext cx="2029968" cy="2743200"/>
          </a:xfrm>
          <a:prstGeom prst="roundRect">
            <a:avLst>
              <a:gd name="adj" fmla="val 3604"/>
            </a:avLst>
          </a:prstGeom>
          <a:solidFill>
            <a:srgbClr val="FFFFFF"/>
          </a:solidFill>
          <a:ln w="12700">
            <a:solidFill>
              <a:srgbClr val="E1E5F0"/>
            </a:solidFill>
            <a:prstDash val="solid"/>
          </a:ln>
          <a:effectLst>
            <a:outerShdw sx="100000" sy="100000" kx="0" ky="0" algn="bl" rotWithShape="0" blurRad="101600" dist="38100" dir="5400000">
              <a:srgbClr val="1E2761">
                <a:alpha val="12000"/>
              </a:srgbClr>
            </a:outerShdw>
          </a:effectLst>
        </p:spPr>
      </p:sp>
      <p:sp>
        <p:nvSpPr>
          <p:cNvPr id="5" name="Shape 3"/>
          <p:cNvSpPr/>
          <p:nvPr/>
        </p:nvSpPr>
        <p:spPr>
          <a:xfrm>
            <a:off x="1271016" y="2057400"/>
            <a:ext cx="585216" cy="585216"/>
          </a:xfrm>
          <a:prstGeom prst="ellipse">
            <a:avLst/>
          </a:prstGeom>
          <a:solidFill>
            <a:srgbClr val="1E2761"/>
          </a:solidFill>
          <a:ln/>
        </p:spPr>
      </p:sp>
      <p:sp>
        <p:nvSpPr>
          <p:cNvPr id="6" name="Text 4"/>
          <p:cNvSpPr/>
          <p:nvPr/>
        </p:nvSpPr>
        <p:spPr>
          <a:xfrm>
            <a:off x="1271016" y="2057400"/>
            <a:ext cx="585216" cy="58521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85800" y="2834640"/>
            <a:ext cx="1755648" cy="365760"/>
          </a:xfrm>
          <a:prstGeom prst="rect">
            <a:avLst/>
          </a:prstGeom>
          <a:noFill/>
          <a:ln/>
        </p:spPr>
        <p:txBody>
          <a:bodyPr wrap="square" rtlCol="0" anchor="ctr"/>
          <a:lstStyle/>
          <a:p>
            <a:pPr algn="ctr" indent="0" marL="0">
              <a:buNone/>
            </a:pPr>
            <a:r>
              <a:rPr lang="en-US" sz="1600" b="1" dirty="0">
                <a:solidFill>
                  <a:srgbClr val="1B1F3B"/>
                </a:solidFill>
                <a:latin typeface="Calibri" pitchFamily="34" charset="0"/>
                <a:ea typeface="Calibri" pitchFamily="34" charset="-122"/>
                <a:cs typeface="Calibri" pitchFamily="34" charset="-120"/>
              </a:rPr>
              <a:t>Spec</a:t>
            </a:r>
            <a:endParaRPr lang="en-US" sz="1600" dirty="0"/>
          </a:p>
        </p:txBody>
      </p:sp>
      <p:sp>
        <p:nvSpPr>
          <p:cNvPr id="8" name="Text 6"/>
          <p:cNvSpPr/>
          <p:nvPr/>
        </p:nvSpPr>
        <p:spPr>
          <a:xfrm>
            <a:off x="685800" y="3246120"/>
            <a:ext cx="1755648" cy="1005840"/>
          </a:xfrm>
          <a:prstGeom prst="rect">
            <a:avLst/>
          </a:prstGeom>
          <a:noFill/>
          <a:ln/>
        </p:spPr>
        <p:txBody>
          <a:bodyPr wrap="square" rtlCol="0" anchor="ctr"/>
          <a:lstStyle/>
          <a:p>
            <a:pPr algn="ctr" indent="0" marL="0">
              <a:lnSpc>
                <a:spcPts val="1600"/>
              </a:lnSpc>
              <a:buNone/>
            </a:pPr>
            <a:r>
              <a:rPr lang="en-US" sz="1200" dirty="0">
                <a:solidFill>
                  <a:srgbClr val="5B6178"/>
                </a:solidFill>
                <a:latin typeface="Calibri" pitchFamily="34" charset="0"/>
                <a:ea typeface="Calibri" pitchFamily="34" charset="-122"/>
                <a:cs typeface="Calibri" pitchFamily="34" charset="-120"/>
              </a:rPr>
              <a:t>Qué se debe construir</a:t>
            </a:r>
            <a:endParaRPr lang="en-US" sz="1200" dirty="0"/>
          </a:p>
        </p:txBody>
      </p:sp>
      <p:sp>
        <p:nvSpPr>
          <p:cNvPr id="9" name="Text 7"/>
          <p:cNvSpPr/>
          <p:nvPr/>
        </p:nvSpPr>
        <p:spPr>
          <a:xfrm>
            <a:off x="2532888" y="1965960"/>
            <a:ext cx="365760" cy="457200"/>
          </a:xfrm>
          <a:prstGeom prst="rect">
            <a:avLst/>
          </a:prstGeom>
          <a:noFill/>
          <a:ln/>
        </p:spPr>
        <p:txBody>
          <a:bodyPr wrap="square" rtlCol="0" anchor="ctr"/>
          <a:lstStyle/>
          <a:p>
            <a:pPr algn="ctr" indent="0" marL="0">
              <a:buNone/>
            </a:pPr>
            <a:r>
              <a:rPr lang="en-US" sz="2000" b="1" dirty="0">
                <a:solidFill>
                  <a:srgbClr val="5B6178"/>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07208" y="1737360"/>
            <a:ext cx="2029968" cy="2743200"/>
          </a:xfrm>
          <a:prstGeom prst="roundRect">
            <a:avLst>
              <a:gd name="adj" fmla="val 3604"/>
            </a:avLst>
          </a:prstGeom>
          <a:solidFill>
            <a:srgbClr val="FFFFFF"/>
          </a:solidFill>
          <a:ln w="12700">
            <a:solidFill>
              <a:srgbClr val="E1E5F0"/>
            </a:solidFill>
            <a:prstDash val="solid"/>
          </a:ln>
          <a:effectLst>
            <a:outerShdw sx="100000" sy="100000" kx="0" ky="0" algn="bl" rotWithShape="0" blurRad="101600" dist="38100" dir="5400000">
              <a:srgbClr val="1E2761">
                <a:alpha val="12000"/>
              </a:srgbClr>
            </a:outerShdw>
          </a:effectLst>
        </p:spPr>
      </p:sp>
      <p:sp>
        <p:nvSpPr>
          <p:cNvPr id="11" name="Shape 9"/>
          <p:cNvSpPr/>
          <p:nvPr/>
        </p:nvSpPr>
        <p:spPr>
          <a:xfrm>
            <a:off x="3529584" y="2057400"/>
            <a:ext cx="585216" cy="585216"/>
          </a:xfrm>
          <a:prstGeom prst="ellipse">
            <a:avLst/>
          </a:prstGeom>
          <a:solidFill>
            <a:srgbClr val="1E2761"/>
          </a:solidFill>
          <a:ln/>
        </p:spPr>
      </p:sp>
      <p:sp>
        <p:nvSpPr>
          <p:cNvPr id="12" name="Text 10"/>
          <p:cNvSpPr/>
          <p:nvPr/>
        </p:nvSpPr>
        <p:spPr>
          <a:xfrm>
            <a:off x="3529584" y="2057400"/>
            <a:ext cx="585216" cy="58521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2944368" y="2834640"/>
            <a:ext cx="1755648" cy="365760"/>
          </a:xfrm>
          <a:prstGeom prst="rect">
            <a:avLst/>
          </a:prstGeom>
          <a:noFill/>
          <a:ln/>
        </p:spPr>
        <p:txBody>
          <a:bodyPr wrap="square" rtlCol="0" anchor="ctr"/>
          <a:lstStyle/>
          <a:p>
            <a:pPr algn="ctr" indent="0" marL="0">
              <a:buNone/>
            </a:pPr>
            <a:r>
              <a:rPr lang="en-US" sz="1600" b="1" dirty="0">
                <a:solidFill>
                  <a:srgbClr val="1B1F3B"/>
                </a:solidFill>
                <a:latin typeface="Calibri" pitchFamily="34" charset="0"/>
                <a:ea typeface="Calibri" pitchFamily="34" charset="-122"/>
                <a:cs typeface="Calibri" pitchFamily="34" charset="-120"/>
              </a:rPr>
              <a:t>Plan</a:t>
            </a:r>
            <a:endParaRPr lang="en-US" sz="1600" dirty="0"/>
          </a:p>
        </p:txBody>
      </p:sp>
      <p:sp>
        <p:nvSpPr>
          <p:cNvPr id="14" name="Text 12"/>
          <p:cNvSpPr/>
          <p:nvPr/>
        </p:nvSpPr>
        <p:spPr>
          <a:xfrm>
            <a:off x="2944368" y="3246120"/>
            <a:ext cx="1755648" cy="1005840"/>
          </a:xfrm>
          <a:prstGeom prst="rect">
            <a:avLst/>
          </a:prstGeom>
          <a:noFill/>
          <a:ln/>
        </p:spPr>
        <p:txBody>
          <a:bodyPr wrap="square" rtlCol="0" anchor="ctr"/>
          <a:lstStyle/>
          <a:p>
            <a:pPr algn="ctr" indent="0" marL="0">
              <a:lnSpc>
                <a:spcPts val="1600"/>
              </a:lnSpc>
              <a:buNone/>
            </a:pPr>
            <a:r>
              <a:rPr lang="en-US" sz="1200" dirty="0">
                <a:solidFill>
                  <a:srgbClr val="5B6178"/>
                </a:solidFill>
                <a:latin typeface="Calibri" pitchFamily="34" charset="0"/>
                <a:ea typeface="Calibri" pitchFamily="34" charset="-122"/>
                <a:cs typeface="Calibri" pitchFamily="34" charset="-120"/>
              </a:rPr>
              <a:t>En qué orden se construye</a:t>
            </a:r>
            <a:endParaRPr lang="en-US" sz="1200" dirty="0"/>
          </a:p>
        </p:txBody>
      </p:sp>
      <p:sp>
        <p:nvSpPr>
          <p:cNvPr id="15" name="Text 13"/>
          <p:cNvSpPr/>
          <p:nvPr/>
        </p:nvSpPr>
        <p:spPr>
          <a:xfrm>
            <a:off x="4791456" y="1965960"/>
            <a:ext cx="365760" cy="457200"/>
          </a:xfrm>
          <a:prstGeom prst="rect">
            <a:avLst/>
          </a:prstGeom>
          <a:noFill/>
          <a:ln/>
        </p:spPr>
        <p:txBody>
          <a:bodyPr wrap="square" rtlCol="0" anchor="ctr"/>
          <a:lstStyle/>
          <a:p>
            <a:pPr algn="ctr" indent="0" marL="0">
              <a:buNone/>
            </a:pPr>
            <a:r>
              <a:rPr lang="en-US" sz="2000" b="1" dirty="0">
                <a:solidFill>
                  <a:srgbClr val="5B6178"/>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065776" y="1737360"/>
            <a:ext cx="2029968" cy="2743200"/>
          </a:xfrm>
          <a:prstGeom prst="roundRect">
            <a:avLst>
              <a:gd name="adj" fmla="val 3604"/>
            </a:avLst>
          </a:prstGeom>
          <a:solidFill>
            <a:srgbClr val="FFFFFF"/>
          </a:solidFill>
          <a:ln w="12700">
            <a:solidFill>
              <a:srgbClr val="E1E5F0"/>
            </a:solidFill>
            <a:prstDash val="solid"/>
          </a:ln>
          <a:effectLst>
            <a:outerShdw sx="100000" sy="100000" kx="0" ky="0" algn="bl" rotWithShape="0" blurRad="101600" dist="38100" dir="5400000">
              <a:srgbClr val="1E2761">
                <a:alpha val="12000"/>
              </a:srgbClr>
            </a:outerShdw>
          </a:effectLst>
        </p:spPr>
      </p:sp>
      <p:sp>
        <p:nvSpPr>
          <p:cNvPr id="17" name="Shape 15"/>
          <p:cNvSpPr/>
          <p:nvPr/>
        </p:nvSpPr>
        <p:spPr>
          <a:xfrm>
            <a:off x="5788152" y="2057400"/>
            <a:ext cx="585216" cy="585216"/>
          </a:xfrm>
          <a:prstGeom prst="ellipse">
            <a:avLst/>
          </a:prstGeom>
          <a:solidFill>
            <a:srgbClr val="1E2761"/>
          </a:solidFill>
          <a:ln/>
        </p:spPr>
      </p:sp>
      <p:sp>
        <p:nvSpPr>
          <p:cNvPr id="18" name="Text 16"/>
          <p:cNvSpPr/>
          <p:nvPr/>
        </p:nvSpPr>
        <p:spPr>
          <a:xfrm>
            <a:off x="5788152" y="2057400"/>
            <a:ext cx="585216" cy="58521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5202936" y="2834640"/>
            <a:ext cx="1755648" cy="365760"/>
          </a:xfrm>
          <a:prstGeom prst="rect">
            <a:avLst/>
          </a:prstGeom>
          <a:noFill/>
          <a:ln/>
        </p:spPr>
        <p:txBody>
          <a:bodyPr wrap="square" rtlCol="0" anchor="ctr"/>
          <a:lstStyle/>
          <a:p>
            <a:pPr algn="ctr" indent="0" marL="0">
              <a:buNone/>
            </a:pPr>
            <a:r>
              <a:rPr lang="en-US" sz="1600" b="1" dirty="0">
                <a:solidFill>
                  <a:srgbClr val="1B1F3B"/>
                </a:solidFill>
                <a:latin typeface="Calibri" pitchFamily="34" charset="0"/>
                <a:ea typeface="Calibri" pitchFamily="34" charset="-122"/>
                <a:cs typeface="Calibri" pitchFamily="34" charset="-120"/>
              </a:rPr>
              <a:t>Prompt</a:t>
            </a:r>
            <a:endParaRPr lang="en-US" sz="1600" dirty="0"/>
          </a:p>
        </p:txBody>
      </p:sp>
      <p:sp>
        <p:nvSpPr>
          <p:cNvPr id="20" name="Text 18"/>
          <p:cNvSpPr/>
          <p:nvPr/>
        </p:nvSpPr>
        <p:spPr>
          <a:xfrm>
            <a:off x="5202936" y="3246120"/>
            <a:ext cx="1755648" cy="1005840"/>
          </a:xfrm>
          <a:prstGeom prst="rect">
            <a:avLst/>
          </a:prstGeom>
          <a:noFill/>
          <a:ln/>
        </p:spPr>
        <p:txBody>
          <a:bodyPr wrap="square" rtlCol="0" anchor="ctr"/>
          <a:lstStyle/>
          <a:p>
            <a:pPr algn="ctr" indent="0" marL="0">
              <a:lnSpc>
                <a:spcPts val="1600"/>
              </a:lnSpc>
              <a:buNone/>
            </a:pPr>
            <a:r>
              <a:rPr lang="en-US" sz="1200" dirty="0">
                <a:solidFill>
                  <a:srgbClr val="5B6178"/>
                </a:solidFill>
                <a:latin typeface="Calibri" pitchFamily="34" charset="0"/>
                <a:ea typeface="Calibri" pitchFamily="34" charset="-122"/>
                <a:cs typeface="Calibri" pitchFamily="34" charset="-120"/>
              </a:rPr>
              <a:t>Cómo se instruye al modelo</a:t>
            </a:r>
            <a:endParaRPr lang="en-US" sz="1200" dirty="0"/>
          </a:p>
        </p:txBody>
      </p:sp>
      <p:sp>
        <p:nvSpPr>
          <p:cNvPr id="21" name="Text 19"/>
          <p:cNvSpPr/>
          <p:nvPr/>
        </p:nvSpPr>
        <p:spPr>
          <a:xfrm>
            <a:off x="7050024" y="1965960"/>
            <a:ext cx="365760" cy="457200"/>
          </a:xfrm>
          <a:prstGeom prst="rect">
            <a:avLst/>
          </a:prstGeom>
          <a:noFill/>
          <a:ln/>
        </p:spPr>
        <p:txBody>
          <a:bodyPr wrap="square" rtlCol="0" anchor="ctr"/>
          <a:lstStyle/>
          <a:p>
            <a:pPr algn="ctr" indent="0" marL="0">
              <a:buNone/>
            </a:pPr>
            <a:r>
              <a:rPr lang="en-US" sz="2000" b="1" dirty="0">
                <a:solidFill>
                  <a:srgbClr val="5B6178"/>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324344" y="1737360"/>
            <a:ext cx="2029968" cy="2743200"/>
          </a:xfrm>
          <a:prstGeom prst="roundRect">
            <a:avLst>
              <a:gd name="adj" fmla="val 3604"/>
            </a:avLst>
          </a:prstGeom>
          <a:solidFill>
            <a:srgbClr val="FFFFFF"/>
          </a:solidFill>
          <a:ln w="12700">
            <a:solidFill>
              <a:srgbClr val="E1E5F0"/>
            </a:solidFill>
            <a:prstDash val="solid"/>
          </a:ln>
          <a:effectLst>
            <a:outerShdw sx="100000" sy="100000" kx="0" ky="0" algn="bl" rotWithShape="0" blurRad="101600" dist="38100" dir="5400000">
              <a:srgbClr val="1E2761">
                <a:alpha val="12000"/>
              </a:srgbClr>
            </a:outerShdw>
          </a:effectLst>
        </p:spPr>
      </p:sp>
      <p:sp>
        <p:nvSpPr>
          <p:cNvPr id="23" name="Shape 21"/>
          <p:cNvSpPr/>
          <p:nvPr/>
        </p:nvSpPr>
        <p:spPr>
          <a:xfrm>
            <a:off x="8046720" y="2057400"/>
            <a:ext cx="585216" cy="585216"/>
          </a:xfrm>
          <a:prstGeom prst="ellipse">
            <a:avLst/>
          </a:prstGeom>
          <a:solidFill>
            <a:srgbClr val="1E2761"/>
          </a:solidFill>
          <a:ln/>
        </p:spPr>
      </p:sp>
      <p:sp>
        <p:nvSpPr>
          <p:cNvPr id="24" name="Text 22"/>
          <p:cNvSpPr/>
          <p:nvPr/>
        </p:nvSpPr>
        <p:spPr>
          <a:xfrm>
            <a:off x="8046720" y="2057400"/>
            <a:ext cx="585216" cy="585216"/>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7461504" y="2834640"/>
            <a:ext cx="1755648" cy="365760"/>
          </a:xfrm>
          <a:prstGeom prst="rect">
            <a:avLst/>
          </a:prstGeom>
          <a:noFill/>
          <a:ln/>
        </p:spPr>
        <p:txBody>
          <a:bodyPr wrap="square" rtlCol="0" anchor="ctr"/>
          <a:lstStyle/>
          <a:p>
            <a:pPr algn="ctr" indent="0" marL="0">
              <a:buNone/>
            </a:pPr>
            <a:r>
              <a:rPr lang="en-US" sz="1600" b="1" dirty="0">
                <a:solidFill>
                  <a:srgbClr val="1B1F3B"/>
                </a:solidFill>
                <a:latin typeface="Calibri" pitchFamily="34" charset="0"/>
                <a:ea typeface="Calibri" pitchFamily="34" charset="-122"/>
                <a:cs typeface="Calibri" pitchFamily="34" charset="-120"/>
              </a:rPr>
              <a:t>Skills</a:t>
            </a:r>
            <a:endParaRPr lang="en-US" sz="1600" dirty="0"/>
          </a:p>
        </p:txBody>
      </p:sp>
      <p:sp>
        <p:nvSpPr>
          <p:cNvPr id="26" name="Text 24"/>
          <p:cNvSpPr/>
          <p:nvPr/>
        </p:nvSpPr>
        <p:spPr>
          <a:xfrm>
            <a:off x="7461504" y="3246120"/>
            <a:ext cx="1755648" cy="1005840"/>
          </a:xfrm>
          <a:prstGeom prst="rect">
            <a:avLst/>
          </a:prstGeom>
          <a:noFill/>
          <a:ln/>
        </p:spPr>
        <p:txBody>
          <a:bodyPr wrap="square" rtlCol="0" anchor="ctr"/>
          <a:lstStyle/>
          <a:p>
            <a:pPr algn="ctr" indent="0" marL="0">
              <a:lnSpc>
                <a:spcPts val="1600"/>
              </a:lnSpc>
              <a:buNone/>
            </a:pPr>
            <a:r>
              <a:rPr lang="en-US" sz="1200" dirty="0">
                <a:solidFill>
                  <a:srgbClr val="5B6178"/>
                </a:solidFill>
                <a:latin typeface="Calibri" pitchFamily="34" charset="0"/>
                <a:ea typeface="Calibri" pitchFamily="34" charset="-122"/>
                <a:cs typeface="Calibri" pitchFamily="34" charset="-120"/>
              </a:rPr>
              <a:t>Qué sabe hacer el agente</a:t>
            </a:r>
            <a:endParaRPr lang="en-US" sz="1200" dirty="0"/>
          </a:p>
        </p:txBody>
      </p:sp>
      <p:sp>
        <p:nvSpPr>
          <p:cNvPr id="27" name="Text 25"/>
          <p:cNvSpPr/>
          <p:nvPr/>
        </p:nvSpPr>
        <p:spPr>
          <a:xfrm>
            <a:off x="9308592" y="1965960"/>
            <a:ext cx="365760" cy="457200"/>
          </a:xfrm>
          <a:prstGeom prst="rect">
            <a:avLst/>
          </a:prstGeom>
          <a:noFill/>
          <a:ln/>
        </p:spPr>
        <p:txBody>
          <a:bodyPr wrap="square" rtlCol="0" anchor="ctr"/>
          <a:lstStyle/>
          <a:p>
            <a:pPr algn="ctr" indent="0" marL="0">
              <a:buNone/>
            </a:pPr>
            <a:r>
              <a:rPr lang="en-US" sz="2000" b="1" dirty="0">
                <a:solidFill>
                  <a:srgbClr val="5B6178"/>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582912" y="1737360"/>
            <a:ext cx="2029968" cy="2743200"/>
          </a:xfrm>
          <a:prstGeom prst="roundRect">
            <a:avLst>
              <a:gd name="adj" fmla="val 3604"/>
            </a:avLst>
          </a:prstGeom>
          <a:solidFill>
            <a:srgbClr val="FFFFFF"/>
          </a:solidFill>
          <a:ln w="12700">
            <a:solidFill>
              <a:srgbClr val="E1E5F0"/>
            </a:solidFill>
            <a:prstDash val="solid"/>
          </a:ln>
          <a:effectLst>
            <a:outerShdw sx="100000" sy="100000" kx="0" ky="0" algn="bl" rotWithShape="0" blurRad="101600" dist="38100" dir="5400000">
              <a:srgbClr val="1E2761">
                <a:alpha val="12000"/>
              </a:srgbClr>
            </a:outerShdw>
          </a:effectLst>
        </p:spPr>
      </p:sp>
      <p:sp>
        <p:nvSpPr>
          <p:cNvPr id="29" name="Shape 27"/>
          <p:cNvSpPr/>
          <p:nvPr/>
        </p:nvSpPr>
        <p:spPr>
          <a:xfrm>
            <a:off x="10305288" y="2057400"/>
            <a:ext cx="585216" cy="585216"/>
          </a:xfrm>
          <a:prstGeom prst="ellipse">
            <a:avLst/>
          </a:prstGeom>
          <a:solidFill>
            <a:srgbClr val="00C2D1"/>
          </a:solidFill>
          <a:ln/>
        </p:spPr>
      </p:sp>
      <p:sp>
        <p:nvSpPr>
          <p:cNvPr id="30" name="Text 28"/>
          <p:cNvSpPr/>
          <p:nvPr/>
        </p:nvSpPr>
        <p:spPr>
          <a:xfrm>
            <a:off x="10305288" y="2057400"/>
            <a:ext cx="585216" cy="585216"/>
          </a:xfrm>
          <a:prstGeom prst="rect">
            <a:avLst/>
          </a:prstGeom>
          <a:noFill/>
          <a:ln/>
        </p:spPr>
        <p:txBody>
          <a:bodyPr wrap="square"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5</a:t>
            </a:r>
            <a:endParaRPr lang="en-US" sz="2000" dirty="0"/>
          </a:p>
        </p:txBody>
      </p:sp>
      <p:sp>
        <p:nvSpPr>
          <p:cNvPr id="31" name="Text 29"/>
          <p:cNvSpPr/>
          <p:nvPr/>
        </p:nvSpPr>
        <p:spPr>
          <a:xfrm>
            <a:off x="9720072" y="2834640"/>
            <a:ext cx="1755648" cy="365760"/>
          </a:xfrm>
          <a:prstGeom prst="rect">
            <a:avLst/>
          </a:prstGeom>
          <a:noFill/>
          <a:ln/>
        </p:spPr>
        <p:txBody>
          <a:bodyPr wrap="square" rtlCol="0" anchor="ctr"/>
          <a:lstStyle/>
          <a:p>
            <a:pPr algn="ctr" indent="0" marL="0">
              <a:buNone/>
            </a:pPr>
            <a:r>
              <a:rPr lang="en-US" sz="1600" b="1" dirty="0">
                <a:solidFill>
                  <a:srgbClr val="1B1F3B"/>
                </a:solidFill>
                <a:latin typeface="Calibri" pitchFamily="34" charset="0"/>
                <a:ea typeface="Calibri" pitchFamily="34" charset="-122"/>
                <a:cs typeface="Calibri" pitchFamily="34" charset="-120"/>
              </a:rPr>
              <a:t>Gobernanza</a:t>
            </a:r>
            <a:endParaRPr lang="en-US" sz="1600" dirty="0"/>
          </a:p>
        </p:txBody>
      </p:sp>
      <p:sp>
        <p:nvSpPr>
          <p:cNvPr id="32" name="Text 30"/>
          <p:cNvSpPr/>
          <p:nvPr/>
        </p:nvSpPr>
        <p:spPr>
          <a:xfrm>
            <a:off x="9720072" y="3246120"/>
            <a:ext cx="1755648" cy="1005840"/>
          </a:xfrm>
          <a:prstGeom prst="rect">
            <a:avLst/>
          </a:prstGeom>
          <a:noFill/>
          <a:ln/>
        </p:spPr>
        <p:txBody>
          <a:bodyPr wrap="square" rtlCol="0" anchor="ctr"/>
          <a:lstStyle/>
          <a:p>
            <a:pPr algn="ctr" indent="0" marL="0">
              <a:lnSpc>
                <a:spcPts val="1600"/>
              </a:lnSpc>
              <a:buNone/>
            </a:pPr>
            <a:r>
              <a:rPr lang="en-US" sz="1200" dirty="0">
                <a:solidFill>
                  <a:srgbClr val="5B6178"/>
                </a:solidFill>
                <a:latin typeface="Calibri" pitchFamily="34" charset="0"/>
                <a:ea typeface="Calibri" pitchFamily="34" charset="-122"/>
                <a:cs typeface="Calibri" pitchFamily="34" charset="-120"/>
              </a:rPr>
              <a:t>Qué puede tocar y quién audita</a:t>
            </a:r>
            <a:endParaRPr lang="en-US" sz="1200" dirty="0"/>
          </a:p>
        </p:txBody>
      </p:sp>
      <p:sp>
        <p:nvSpPr>
          <p:cNvPr id="33" name="Text 31"/>
          <p:cNvSpPr/>
          <p:nvPr/>
        </p:nvSpPr>
        <p:spPr>
          <a:xfrm>
            <a:off x="548640" y="4754880"/>
            <a:ext cx="10881360" cy="640080"/>
          </a:xfrm>
          <a:prstGeom prst="rect">
            <a:avLst/>
          </a:prstGeom>
          <a:noFill/>
          <a:ln/>
        </p:spPr>
        <p:txBody>
          <a:bodyPr wrap="square" rtlCol="0" anchor="ctr"/>
          <a:lstStyle/>
          <a:p>
            <a:pPr indent="0" marL="0">
              <a:lnSpc>
                <a:spcPts val="1800"/>
              </a:lnSpc>
              <a:buNone/>
            </a:pPr>
            <a:r>
              <a:rPr lang="en-US" sz="1300" i="1" dirty="0">
                <a:solidFill>
                  <a:srgbClr val="5B6178"/>
                </a:solidFill>
                <a:latin typeface="Calibri" pitchFamily="34" charset="0"/>
                <a:ea typeface="Calibri" pitchFamily="34" charset="-122"/>
                <a:cs typeface="Calibri" pitchFamily="34" charset="-120"/>
              </a:rPr>
              <a:t>Además veremos: context engineering, RAG, memoria, orquestación multiagente, guardrails/evals y ejemplos reales de la industria.</a:t>
            </a:r>
            <a:endParaRPr lang="en-US" sz="1300" dirty="0"/>
          </a:p>
        </p:txBody>
      </p:sp>
      <p:sp>
        <p:nvSpPr>
          <p:cNvPr id="34" name="Text 3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 1</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Spec: la fuente de verdad del proyecto</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QUÉ construir</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La especificación describe el comportamiento esperado, los requisitos y los criterios de aceptación ANTES de escribir código.</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En "Spec-Driven Development" (SDD), la spec no es documentación después del hecho: es el artefacto que el agente de IA lee, valida y usa como referencia para generar y verificar el código.</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Requisitos funcionales</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Qué debe hacer el sistema, en lenguaje claro y verificable.</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Restricciones</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Límites técnicos, de seguridad o de negocio que no se pueden violar.</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Criterios de aceptación</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Condiciones medibles para considerar la tarea terminada.</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Versionable</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Vive en el repositorio junto al código, con historial de cambios.</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En la industria: herramientas como GitHub Spec Kit o Amazon Kiro estructuran este paso de forma explícita antes de generar código.</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 2</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Plan: traducir la spec en pasos ejecutables</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EN QUÉ ORDEN</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El plan descompone la spec en tareas secuenciadas y con dependencias claras: qué se hace primero, qué archivos toca cada paso y qué pasos pueden ejecutarse en paralelo.</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Un buen plan es la diferencia entre un agente que "improvisa" código y uno que ejecuta un proyecto real de forma predecible.</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Descomposición en tareas</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Cada tarea es pequeña, verificable y de alcance acotado.</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Dependencias explícitas</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Qué debe completarse antes de avanzar al siguiente paso.</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Trazabilidad</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Cada tarea del plan enlaza de vuelta a un punto de la spec.</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Checkpoints de revisión</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Puntos donde un humano aprueba antes de continuar.</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El plan es lo que permite pausar, revisar y retomar el trabajo del agente sin perder contexto.</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 3</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Prompt: la instrucción puntual de ejecución</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CÓMO SE PIDE</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El prompt no se escribe a mano cada vez: se genera a partir del plan y la spec, de forma consistente y repetible. Esto es lo que en tu ejemplo hacía ChatGPT/Codex al recibir instrucciones estructuradas.</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Un prompt bien diseñado no depende de la memoria del usuario — depende de la arquitectura que lo construye.</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Contexto</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Qué parte de la spec y el plan es relevante para esta tarea.</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Restricciones</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Formato de salida, estilo de código, límites de alcance.</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Ejemplos (few-shot)</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Casos de referencia que anclan el comportamiento esperado.</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Criterio de éxito</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Cómo el propio agente valida que cumplió la instrucción.</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Prompt engineering vs. context engineering: hoy la industria habla más de diseñar TODO el contexto que rodea al prompt, no solo el texto del prompt.</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 4</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Skills: capacidades reutilizables del agente</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QUÉ SABE HACER</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Una skill es un módulo de instrucciones especializadas ("cómo generar un PDF", "cómo seguir el estilo de marca", "cómo hacer commits") que el agente activa automáticamente según el contexto de la tarea.</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Esto es exactamente la idea que mencionas: que cada vez que el agente haga algo nuevo, sepa qué hacer sin que se lo expliques de cero cada vez.</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Activación por contexto</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El agente detecta cuándo una skill aplica a la tarea actual.</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Reutilización</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Se escribe una vez y sirve para cientos de tareas futuras.</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Composición</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Varias skills pueden combinarse dentro de una misma tarea.</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Mantenimiento centralizado</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Actualizar una skill mejora todos los flujos que la usan.</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El LLM sigue siendo el "cerebro" que decide; las skills son la memoria de procedimientos que no quieres repetir en cada prompt.</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 5</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600" b="1" dirty="0">
                <a:solidFill>
                  <a:srgbClr val="1B1F3B"/>
                </a:solidFill>
                <a:latin typeface="Cambria" pitchFamily="34" charset="0"/>
                <a:ea typeface="Cambria" pitchFamily="34" charset="-122"/>
                <a:cs typeface="Cambria" pitchFamily="34" charset="-120"/>
              </a:rPr>
              <a:t>Gobernanza y grants: el agente opera con permisos</a:t>
            </a:r>
            <a:endParaRPr lang="en-US" sz="2600" dirty="0"/>
          </a:p>
        </p:txBody>
      </p:sp>
      <p:sp>
        <p:nvSpPr>
          <p:cNvPr id="4" name="Text 2"/>
          <p:cNvSpPr/>
          <p:nvPr/>
        </p:nvSpPr>
        <p:spPr>
          <a:xfrm>
            <a:off x="548640" y="1417320"/>
            <a:ext cx="10789920" cy="640080"/>
          </a:xfrm>
          <a:prstGeom prst="rect">
            <a:avLst/>
          </a:prstGeom>
          <a:noFill/>
          <a:ln/>
        </p:spPr>
        <p:txBody>
          <a:bodyPr wrap="square" rtlCol="0" anchor="ctr"/>
          <a:lstStyle/>
          <a:p>
            <a:pPr indent="0" marL="0">
              <a:lnSpc>
                <a:spcPts val="1800"/>
              </a:lnSpc>
              <a:buNone/>
            </a:pPr>
            <a:r>
              <a:rPr lang="en-US" sz="1350" dirty="0">
                <a:solidFill>
                  <a:srgbClr val="5B6178"/>
                </a:solidFill>
                <a:latin typeface="Calibri" pitchFamily="34" charset="0"/>
                <a:ea typeface="Calibri" pitchFamily="34" charset="-122"/>
                <a:cs typeface="Calibri" pitchFamily="34" charset="-120"/>
              </a:rPr>
              <a:t>La gobernanza define qué puede hacer un agente de forma autónoma, qué requiere aprobación humana y qué queda registrado para auditoría. Los "grants" aplican el principio de mínimo privilegio: el agente solo accede a lo estrictamente necesario para la tarea.</a:t>
            </a:r>
            <a:endParaRPr lang="en-US" sz="1350" dirty="0"/>
          </a:p>
        </p:txBody>
      </p:sp>
      <p:sp>
        <p:nvSpPr>
          <p:cNvPr id="5" name="Shape 3"/>
          <p:cNvSpPr/>
          <p:nvPr/>
        </p:nvSpPr>
        <p:spPr>
          <a:xfrm>
            <a:off x="548640" y="2377440"/>
            <a:ext cx="3502152" cy="2651760"/>
          </a:xfrm>
          <a:prstGeom prst="roundRect">
            <a:avLst>
              <a:gd name="adj" fmla="val 2759"/>
            </a:avLst>
          </a:prstGeom>
          <a:solidFill>
            <a:srgbClr val="FFFFFF"/>
          </a:solidFill>
          <a:ln w="12700">
            <a:solidFill>
              <a:srgbClr val="E1E5F0"/>
            </a:solidFill>
            <a:prstDash val="solid"/>
          </a:ln>
          <a:effectLst>
            <a:outerShdw sx="100000" sy="100000" kx="0" ky="0" algn="bl" rotWithShape="0" blurRad="76200" dist="25400" dir="5400000">
              <a:srgbClr val="1E2761">
                <a:alpha val="10000"/>
              </a:srgbClr>
            </a:outerShdw>
          </a:effectLst>
        </p:spPr>
      </p:sp>
      <p:sp>
        <p:nvSpPr>
          <p:cNvPr id="6" name="Shape 4"/>
          <p:cNvSpPr/>
          <p:nvPr/>
        </p:nvSpPr>
        <p:spPr>
          <a:xfrm>
            <a:off x="822960" y="2651760"/>
            <a:ext cx="502920" cy="502920"/>
          </a:xfrm>
          <a:prstGeom prst="roundRect">
            <a:avLst>
              <a:gd name="adj" fmla="val 21818"/>
            </a:avLst>
          </a:prstGeom>
          <a:solidFill>
            <a:srgbClr val="1E2761"/>
          </a:solidFill>
          <a:ln/>
        </p:spPr>
      </p:sp>
      <p:sp>
        <p:nvSpPr>
          <p:cNvPr id="7" name="Text 5"/>
          <p:cNvSpPr/>
          <p:nvPr/>
        </p:nvSpPr>
        <p:spPr>
          <a:xfrm>
            <a:off x="822960" y="2651760"/>
            <a:ext cx="502920" cy="502920"/>
          </a:xfrm>
          <a:prstGeom prst="rect">
            <a:avLst/>
          </a:prstGeom>
          <a:noFill/>
          <a:ln/>
        </p:spPr>
        <p:txBody>
          <a:bodyPr wrap="square" rtlCol="0" anchor="ctr"/>
          <a:lstStyle/>
          <a:p>
            <a:pPr algn="ctr" indent="0" marL="0">
              <a:buNone/>
            </a:pPr>
            <a:r>
              <a:rPr lang="en-US" sz="1800" b="1" dirty="0">
                <a:solidFill>
                  <a:srgbClr val="00C2D1"/>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3291840"/>
            <a:ext cx="2953512" cy="457200"/>
          </a:xfrm>
          <a:prstGeom prst="rect">
            <a:avLst/>
          </a:prstGeom>
          <a:noFill/>
          <a:ln/>
        </p:spPr>
        <p:txBody>
          <a:bodyPr wrap="square"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Autonomía controlada</a:t>
            </a:r>
            <a:endParaRPr lang="en-US" sz="1450" dirty="0"/>
          </a:p>
        </p:txBody>
      </p:sp>
      <p:sp>
        <p:nvSpPr>
          <p:cNvPr id="9" name="Text 7"/>
          <p:cNvSpPr/>
          <p:nvPr/>
        </p:nvSpPr>
        <p:spPr>
          <a:xfrm>
            <a:off x="822960" y="3749040"/>
            <a:ext cx="2953512" cy="1188720"/>
          </a:xfrm>
          <a:prstGeom prst="rect">
            <a:avLst/>
          </a:prstGeom>
          <a:noFill/>
          <a:ln/>
        </p:spPr>
        <p:txBody>
          <a:bodyPr wrap="square" rtlCol="0" anchor="ctr"/>
          <a:lstStyle/>
          <a:p>
            <a:pPr indent="0" marL="0">
              <a:lnSpc>
                <a:spcPts val="1600"/>
              </a:lnSpc>
              <a:buNone/>
            </a:pPr>
            <a:r>
              <a:rPr lang="en-US" sz="1200" dirty="0">
                <a:solidFill>
                  <a:srgbClr val="5B6178"/>
                </a:solidFill>
                <a:latin typeface="Calibri" pitchFamily="34" charset="0"/>
                <a:ea typeface="Calibri" pitchFamily="34" charset="-122"/>
                <a:cs typeface="Calibri" pitchFamily="34" charset="-120"/>
              </a:rPr>
              <a:t>Acciones de bajo riesgo (leer, formatear) se ejecutan solas; acciones críticas (borrar, desplegar, pagar) requieren aprobación.</a:t>
            </a:r>
            <a:endParaRPr lang="en-US" sz="1200" dirty="0"/>
          </a:p>
        </p:txBody>
      </p:sp>
      <p:sp>
        <p:nvSpPr>
          <p:cNvPr id="10" name="Shape 8"/>
          <p:cNvSpPr/>
          <p:nvPr/>
        </p:nvSpPr>
        <p:spPr>
          <a:xfrm>
            <a:off x="4325112" y="2377440"/>
            <a:ext cx="3502152" cy="2651760"/>
          </a:xfrm>
          <a:prstGeom prst="roundRect">
            <a:avLst>
              <a:gd name="adj" fmla="val 2759"/>
            </a:avLst>
          </a:prstGeom>
          <a:solidFill>
            <a:srgbClr val="FFFFFF"/>
          </a:solidFill>
          <a:ln w="12700">
            <a:solidFill>
              <a:srgbClr val="E1E5F0"/>
            </a:solidFill>
            <a:prstDash val="solid"/>
          </a:ln>
          <a:effectLst>
            <a:outerShdw sx="100000" sy="100000" kx="0" ky="0" algn="bl" rotWithShape="0" blurRad="76200" dist="25400" dir="5400000">
              <a:srgbClr val="1E2761">
                <a:alpha val="10000"/>
              </a:srgbClr>
            </a:outerShdw>
          </a:effectLst>
        </p:spPr>
      </p:sp>
      <p:sp>
        <p:nvSpPr>
          <p:cNvPr id="11" name="Shape 9"/>
          <p:cNvSpPr/>
          <p:nvPr/>
        </p:nvSpPr>
        <p:spPr>
          <a:xfrm>
            <a:off x="4599432" y="2651760"/>
            <a:ext cx="502920" cy="502920"/>
          </a:xfrm>
          <a:prstGeom prst="roundRect">
            <a:avLst>
              <a:gd name="adj" fmla="val 21818"/>
            </a:avLst>
          </a:prstGeom>
          <a:solidFill>
            <a:srgbClr val="1E2761"/>
          </a:solidFill>
          <a:ln/>
        </p:spPr>
      </p:sp>
      <p:sp>
        <p:nvSpPr>
          <p:cNvPr id="12" name="Text 10"/>
          <p:cNvSpPr/>
          <p:nvPr/>
        </p:nvSpPr>
        <p:spPr>
          <a:xfrm>
            <a:off x="4599432" y="2651760"/>
            <a:ext cx="502920" cy="502920"/>
          </a:xfrm>
          <a:prstGeom prst="rect">
            <a:avLst/>
          </a:prstGeom>
          <a:noFill/>
          <a:ln/>
        </p:spPr>
        <p:txBody>
          <a:bodyPr wrap="square" rtlCol="0" anchor="ctr"/>
          <a:lstStyle/>
          <a:p>
            <a:pPr algn="ctr" indent="0" marL="0">
              <a:buNone/>
            </a:pPr>
            <a:r>
              <a:rPr lang="en-US" sz="1800" b="1" dirty="0">
                <a:solidFill>
                  <a:srgbClr val="00C2D1"/>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599432" y="3291840"/>
            <a:ext cx="2953512" cy="457200"/>
          </a:xfrm>
          <a:prstGeom prst="rect">
            <a:avLst/>
          </a:prstGeom>
          <a:noFill/>
          <a:ln/>
        </p:spPr>
        <p:txBody>
          <a:bodyPr wrap="square"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Mínimo privilegio (grants)</a:t>
            </a:r>
            <a:endParaRPr lang="en-US" sz="1450" dirty="0"/>
          </a:p>
        </p:txBody>
      </p:sp>
      <p:sp>
        <p:nvSpPr>
          <p:cNvPr id="14" name="Text 12"/>
          <p:cNvSpPr/>
          <p:nvPr/>
        </p:nvSpPr>
        <p:spPr>
          <a:xfrm>
            <a:off x="4599432" y="3749040"/>
            <a:ext cx="2953512" cy="1188720"/>
          </a:xfrm>
          <a:prstGeom prst="rect">
            <a:avLst/>
          </a:prstGeom>
          <a:noFill/>
          <a:ln/>
        </p:spPr>
        <p:txBody>
          <a:bodyPr wrap="square" rtlCol="0" anchor="ctr"/>
          <a:lstStyle/>
          <a:p>
            <a:pPr indent="0" marL="0">
              <a:lnSpc>
                <a:spcPts val="1600"/>
              </a:lnSpc>
              <a:buNone/>
            </a:pPr>
            <a:r>
              <a:rPr lang="en-US" sz="1200" dirty="0">
                <a:solidFill>
                  <a:srgbClr val="5B6178"/>
                </a:solidFill>
                <a:latin typeface="Calibri" pitchFamily="34" charset="0"/>
                <a:ea typeface="Calibri" pitchFamily="34" charset="-122"/>
                <a:cs typeface="Calibri" pitchFamily="34" charset="-120"/>
              </a:rPr>
              <a:t>El agente recibe acceso acotado por tarea y por tiempo, no credenciales globales permanentes.</a:t>
            </a:r>
            <a:endParaRPr lang="en-US" sz="1200" dirty="0"/>
          </a:p>
        </p:txBody>
      </p:sp>
      <p:sp>
        <p:nvSpPr>
          <p:cNvPr id="15" name="Shape 13"/>
          <p:cNvSpPr/>
          <p:nvPr/>
        </p:nvSpPr>
        <p:spPr>
          <a:xfrm>
            <a:off x="8101584" y="2377440"/>
            <a:ext cx="3502152" cy="2651760"/>
          </a:xfrm>
          <a:prstGeom prst="roundRect">
            <a:avLst>
              <a:gd name="adj" fmla="val 2759"/>
            </a:avLst>
          </a:prstGeom>
          <a:solidFill>
            <a:srgbClr val="FFFFFF"/>
          </a:solidFill>
          <a:ln w="12700">
            <a:solidFill>
              <a:srgbClr val="E1E5F0"/>
            </a:solidFill>
            <a:prstDash val="solid"/>
          </a:ln>
          <a:effectLst>
            <a:outerShdw sx="100000" sy="100000" kx="0" ky="0" algn="bl" rotWithShape="0" blurRad="76200" dist="25400" dir="5400000">
              <a:srgbClr val="1E2761">
                <a:alpha val="10000"/>
              </a:srgbClr>
            </a:outerShdw>
          </a:effectLst>
        </p:spPr>
      </p:sp>
      <p:sp>
        <p:nvSpPr>
          <p:cNvPr id="16" name="Shape 14"/>
          <p:cNvSpPr/>
          <p:nvPr/>
        </p:nvSpPr>
        <p:spPr>
          <a:xfrm>
            <a:off x="8375904" y="2651760"/>
            <a:ext cx="502920" cy="502920"/>
          </a:xfrm>
          <a:prstGeom prst="roundRect">
            <a:avLst>
              <a:gd name="adj" fmla="val 21818"/>
            </a:avLst>
          </a:prstGeom>
          <a:solidFill>
            <a:srgbClr val="1E2761"/>
          </a:solidFill>
          <a:ln/>
        </p:spPr>
      </p:sp>
      <p:sp>
        <p:nvSpPr>
          <p:cNvPr id="17" name="Text 15"/>
          <p:cNvSpPr/>
          <p:nvPr/>
        </p:nvSpPr>
        <p:spPr>
          <a:xfrm>
            <a:off x="8375904" y="2651760"/>
            <a:ext cx="502920" cy="502920"/>
          </a:xfrm>
          <a:prstGeom prst="rect">
            <a:avLst/>
          </a:prstGeom>
          <a:noFill/>
          <a:ln/>
        </p:spPr>
        <p:txBody>
          <a:bodyPr wrap="square" rtlCol="0" anchor="ctr"/>
          <a:lstStyle/>
          <a:p>
            <a:pPr algn="ctr" indent="0" marL="0">
              <a:buNone/>
            </a:pPr>
            <a:r>
              <a:rPr lang="en-US" sz="1800" b="1" dirty="0">
                <a:solidFill>
                  <a:srgbClr val="00C2D1"/>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375904" y="3291840"/>
            <a:ext cx="2953512" cy="457200"/>
          </a:xfrm>
          <a:prstGeom prst="rect">
            <a:avLst/>
          </a:prstGeom>
          <a:noFill/>
          <a:ln/>
        </p:spPr>
        <p:txBody>
          <a:bodyPr wrap="square"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Auditoría y trazabilidad</a:t>
            </a:r>
            <a:endParaRPr lang="en-US" sz="1450" dirty="0"/>
          </a:p>
        </p:txBody>
      </p:sp>
      <p:sp>
        <p:nvSpPr>
          <p:cNvPr id="19" name="Text 17"/>
          <p:cNvSpPr/>
          <p:nvPr/>
        </p:nvSpPr>
        <p:spPr>
          <a:xfrm>
            <a:off x="8375904" y="3749040"/>
            <a:ext cx="2953512" cy="1188720"/>
          </a:xfrm>
          <a:prstGeom prst="rect">
            <a:avLst/>
          </a:prstGeom>
          <a:noFill/>
          <a:ln/>
        </p:spPr>
        <p:txBody>
          <a:bodyPr wrap="square" rtlCol="0" anchor="ctr"/>
          <a:lstStyle/>
          <a:p>
            <a:pPr indent="0" marL="0">
              <a:lnSpc>
                <a:spcPts val="1600"/>
              </a:lnSpc>
              <a:buNone/>
            </a:pPr>
            <a:r>
              <a:rPr lang="en-US" sz="1200" dirty="0">
                <a:solidFill>
                  <a:srgbClr val="5B6178"/>
                </a:solidFill>
                <a:latin typeface="Calibri" pitchFamily="34" charset="0"/>
                <a:ea typeface="Calibri" pitchFamily="34" charset="-122"/>
                <a:cs typeface="Calibri" pitchFamily="34" charset="-120"/>
              </a:rPr>
              <a:t>Cada acción del agente queda registrada: qué hizo, con qué prompt, sobre qué archivo.</a:t>
            </a:r>
            <a:endParaRPr lang="en-US" sz="1200" dirty="0"/>
          </a:p>
        </p:txBody>
      </p:sp>
      <p:sp>
        <p:nvSpPr>
          <p:cNvPr id="20" name="Text 18"/>
          <p:cNvSpPr/>
          <p:nvPr/>
        </p:nvSpPr>
        <p:spPr>
          <a:xfrm>
            <a:off x="548640" y="5257800"/>
            <a:ext cx="10881360" cy="457200"/>
          </a:xfrm>
          <a:prstGeom prst="rect">
            <a:avLst/>
          </a:prstGeom>
          <a:noFill/>
          <a:ln/>
        </p:spPr>
        <p:txBody>
          <a:bodyPr wrap="square" rtlCol="0" anchor="ctr"/>
          <a:lstStyle/>
          <a:p>
            <a:pPr indent="0" marL="0">
              <a:buNone/>
            </a:pPr>
            <a:r>
              <a:rPr lang="en-US" sz="1200" i="1" dirty="0">
                <a:solidFill>
                  <a:srgbClr val="5B6178"/>
                </a:solidFill>
                <a:latin typeface="Calibri" pitchFamily="34" charset="0"/>
                <a:ea typeface="Calibri" pitchFamily="34" charset="-122"/>
                <a:cs typeface="Calibri" pitchFamily="34" charset="-120"/>
              </a:rPr>
              <a:t>En la práctica: sistemas de IA empresariales (bancos, salud, gobierno) exigen este nivel de control antes de permitir que un agente toque producción.</a:t>
            </a:r>
            <a:endParaRPr lang="en-US" sz="1200" dirty="0"/>
          </a:p>
        </p:txBody>
      </p:sp>
      <p:sp>
        <p:nvSpPr>
          <p:cNvPr id="21"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00C2D1"/>
                </a:solidFill>
                <a:latin typeface="Calibri" pitchFamily="34" charset="0"/>
                <a:ea typeface="Calibri" pitchFamily="34" charset="-122"/>
                <a:cs typeface="Calibri" pitchFamily="34" charset="-120"/>
              </a:rPr>
              <a:t>CONCEPTO 6</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Arquitectura limpia: separar el cerebro de la ejecución</a:t>
            </a:r>
            <a:endParaRPr lang="en-US" sz="2600" dirty="0"/>
          </a:p>
        </p:txBody>
      </p:sp>
      <p:sp>
        <p:nvSpPr>
          <p:cNvPr id="4" name="Text 2"/>
          <p:cNvSpPr/>
          <p:nvPr/>
        </p:nvSpPr>
        <p:spPr>
          <a:xfrm>
            <a:off x="548640" y="1417320"/>
            <a:ext cx="10607040" cy="502920"/>
          </a:xfrm>
          <a:prstGeom prst="rect">
            <a:avLst/>
          </a:prstGeom>
          <a:noFill/>
          <a:ln/>
        </p:spPr>
        <p:txBody>
          <a:bodyPr wrap="square" rtlCol="0" anchor="ctr"/>
          <a:lstStyle/>
          <a:p>
            <a:pPr indent="0" marL="0">
              <a:lnSpc>
                <a:spcPts val="1800"/>
              </a:lnSpc>
              <a:buNone/>
            </a:pPr>
            <a:r>
              <a:rPr lang="en-US" sz="1350" dirty="0">
                <a:solidFill>
                  <a:srgbClr val="CADCFC"/>
                </a:solidFill>
                <a:latin typeface="Calibri" pitchFamily="34" charset="0"/>
                <a:ea typeface="Calibri" pitchFamily="34" charset="-122"/>
                <a:cs typeface="Calibri" pitchFamily="34" charset="-120"/>
              </a:rPr>
              <a:t>Cambiar una pieza (un modelo, una herramienta, una skill) no debería romper el resto del sistema. Por eso se organiza en capas con responsabilidades separadas.</a:t>
            </a:r>
            <a:endParaRPr lang="en-US" sz="1350" dirty="0"/>
          </a:p>
        </p:txBody>
      </p:sp>
      <p:sp>
        <p:nvSpPr>
          <p:cNvPr id="5" name="Shape 3"/>
          <p:cNvSpPr/>
          <p:nvPr/>
        </p:nvSpPr>
        <p:spPr>
          <a:xfrm>
            <a:off x="822960" y="2148840"/>
            <a:ext cx="10241280" cy="896112"/>
          </a:xfrm>
          <a:prstGeom prst="roundRect">
            <a:avLst>
              <a:gd name="adj" fmla="val 7143"/>
            </a:avLst>
          </a:prstGeom>
          <a:solidFill>
            <a:srgbClr val="00C2D1"/>
          </a:solidFill>
          <a:ln/>
        </p:spPr>
      </p:sp>
      <p:sp>
        <p:nvSpPr>
          <p:cNvPr id="6" name="Text 4"/>
          <p:cNvSpPr/>
          <p:nvPr/>
        </p:nvSpPr>
        <p:spPr>
          <a:xfrm>
            <a:off x="1143000" y="2240280"/>
            <a:ext cx="96012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Capa de decisión — el "cerebro"</a:t>
            </a:r>
            <a:endParaRPr lang="en-US" sz="1500" dirty="0"/>
          </a:p>
        </p:txBody>
      </p:sp>
      <p:sp>
        <p:nvSpPr>
          <p:cNvPr id="7" name="Text 5"/>
          <p:cNvSpPr/>
          <p:nvPr/>
        </p:nvSpPr>
        <p:spPr>
          <a:xfrm>
            <a:off x="1143000" y="2587752"/>
            <a:ext cx="9601200" cy="384048"/>
          </a:xfrm>
          <a:prstGeom prst="rect">
            <a:avLst/>
          </a:prstGeom>
          <a:noFill/>
          <a:ln/>
        </p:spPr>
        <p:txBody>
          <a:bodyPr wrap="square" rtlCol="0" anchor="ctr"/>
          <a:lstStyle/>
          <a:p>
            <a:pPr indent="0" marL="0">
              <a:lnSpc>
                <a:spcPts val="1400"/>
              </a:lnSpc>
              <a:buNone/>
            </a:pPr>
            <a:r>
              <a:rPr lang="en-US" sz="1150" dirty="0">
                <a:solidFill>
                  <a:srgbClr val="1B1F3B"/>
                </a:solidFill>
                <a:latin typeface="Calibri" pitchFamily="34" charset="0"/>
                <a:ea typeface="Calibri" pitchFamily="34" charset="-122"/>
                <a:cs typeface="Calibri" pitchFamily="34" charset="-120"/>
              </a:rPr>
              <a:t>El LLM interpreta la spec/plan y decide qué acción tomar a continuación.</a:t>
            </a:r>
            <a:endParaRPr lang="en-US" sz="1150" dirty="0"/>
          </a:p>
        </p:txBody>
      </p:sp>
      <p:sp>
        <p:nvSpPr>
          <p:cNvPr id="8" name="Shape 6"/>
          <p:cNvSpPr/>
          <p:nvPr/>
        </p:nvSpPr>
        <p:spPr>
          <a:xfrm>
            <a:off x="822960" y="3182112"/>
            <a:ext cx="10241280" cy="896112"/>
          </a:xfrm>
          <a:prstGeom prst="roundRect">
            <a:avLst>
              <a:gd name="adj" fmla="val 7143"/>
            </a:avLst>
          </a:prstGeom>
          <a:solidFill>
            <a:srgbClr val="2B3878"/>
          </a:solidFill>
          <a:ln/>
        </p:spPr>
      </p:sp>
      <p:sp>
        <p:nvSpPr>
          <p:cNvPr id="9" name="Text 7"/>
          <p:cNvSpPr/>
          <p:nvPr/>
        </p:nvSpPr>
        <p:spPr>
          <a:xfrm>
            <a:off x="1143000" y="3273552"/>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Capa de orquestación</a:t>
            </a:r>
            <a:endParaRPr lang="en-US" sz="1500" dirty="0"/>
          </a:p>
        </p:txBody>
      </p:sp>
      <p:sp>
        <p:nvSpPr>
          <p:cNvPr id="10" name="Text 8"/>
          <p:cNvSpPr/>
          <p:nvPr/>
        </p:nvSpPr>
        <p:spPr>
          <a:xfrm>
            <a:off x="1143000" y="3621024"/>
            <a:ext cx="9601200" cy="384048"/>
          </a:xfrm>
          <a:prstGeom prst="rect">
            <a:avLst/>
          </a:prstGeom>
          <a:noFill/>
          <a:ln/>
        </p:spPr>
        <p:txBody>
          <a:bodyPr wrap="square"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Coordina skills, herramientas (MCP) y el orden de ejecución de las tareas del plan.</a:t>
            </a:r>
            <a:endParaRPr lang="en-US" sz="1150" dirty="0"/>
          </a:p>
        </p:txBody>
      </p:sp>
      <p:sp>
        <p:nvSpPr>
          <p:cNvPr id="11" name="Shape 9"/>
          <p:cNvSpPr/>
          <p:nvPr/>
        </p:nvSpPr>
        <p:spPr>
          <a:xfrm>
            <a:off x="822960" y="4215384"/>
            <a:ext cx="10241280" cy="896112"/>
          </a:xfrm>
          <a:prstGeom prst="roundRect">
            <a:avLst>
              <a:gd name="adj" fmla="val 7143"/>
            </a:avLst>
          </a:prstGeom>
          <a:solidFill>
            <a:srgbClr val="2B3878"/>
          </a:solidFill>
          <a:ln/>
        </p:spPr>
      </p:sp>
      <p:sp>
        <p:nvSpPr>
          <p:cNvPr id="12" name="Text 10"/>
          <p:cNvSpPr/>
          <p:nvPr/>
        </p:nvSpPr>
        <p:spPr>
          <a:xfrm>
            <a:off x="1143000" y="4306824"/>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Capa de skills y herramientas</a:t>
            </a:r>
            <a:endParaRPr lang="en-US" sz="1500" dirty="0"/>
          </a:p>
        </p:txBody>
      </p:sp>
      <p:sp>
        <p:nvSpPr>
          <p:cNvPr id="13" name="Text 11"/>
          <p:cNvSpPr/>
          <p:nvPr/>
        </p:nvSpPr>
        <p:spPr>
          <a:xfrm>
            <a:off x="1143000" y="4654296"/>
            <a:ext cx="9601200" cy="384048"/>
          </a:xfrm>
          <a:prstGeom prst="rect">
            <a:avLst/>
          </a:prstGeom>
          <a:noFill/>
          <a:ln/>
        </p:spPr>
        <p:txBody>
          <a:bodyPr wrap="square"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Módulos reutilizables que ejecutan capacidades concretas bajo permisos definidos.</a:t>
            </a:r>
            <a:endParaRPr lang="en-US" sz="1150" dirty="0"/>
          </a:p>
        </p:txBody>
      </p:sp>
      <p:sp>
        <p:nvSpPr>
          <p:cNvPr id="14" name="Shape 12"/>
          <p:cNvSpPr/>
          <p:nvPr/>
        </p:nvSpPr>
        <p:spPr>
          <a:xfrm>
            <a:off x="822960" y="5248656"/>
            <a:ext cx="10241280" cy="896112"/>
          </a:xfrm>
          <a:prstGeom prst="roundRect">
            <a:avLst>
              <a:gd name="adj" fmla="val 7143"/>
            </a:avLst>
          </a:prstGeom>
          <a:solidFill>
            <a:srgbClr val="2B3878"/>
          </a:solidFill>
          <a:ln/>
        </p:spPr>
      </p:sp>
      <p:sp>
        <p:nvSpPr>
          <p:cNvPr id="15" name="Text 13"/>
          <p:cNvSpPr/>
          <p:nvPr/>
        </p:nvSpPr>
        <p:spPr>
          <a:xfrm>
            <a:off x="1143000" y="5340096"/>
            <a:ext cx="96012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Capa de ejecución y datos</a:t>
            </a:r>
            <a:endParaRPr lang="en-US" sz="1500" dirty="0"/>
          </a:p>
        </p:txBody>
      </p:sp>
      <p:sp>
        <p:nvSpPr>
          <p:cNvPr id="16" name="Text 14"/>
          <p:cNvSpPr/>
          <p:nvPr/>
        </p:nvSpPr>
        <p:spPr>
          <a:xfrm>
            <a:off x="1143000" y="5687568"/>
            <a:ext cx="9601200" cy="384048"/>
          </a:xfrm>
          <a:prstGeom prst="rect">
            <a:avLst/>
          </a:prstGeom>
          <a:noFill/>
          <a:ln/>
        </p:spPr>
        <p:txBody>
          <a:bodyPr wrap="square" rtlCol="0" anchor="ctr"/>
          <a:lstStyle/>
          <a:p>
            <a:pPr indent="0" marL="0">
              <a:lnSpc>
                <a:spcPts val="1400"/>
              </a:lnSpc>
              <a:buNone/>
            </a:pPr>
            <a:r>
              <a:rPr lang="en-US" sz="1150" dirty="0">
                <a:solidFill>
                  <a:srgbClr val="CADCFC"/>
                </a:solidFill>
                <a:latin typeface="Calibri" pitchFamily="34" charset="0"/>
                <a:ea typeface="Calibri" pitchFamily="34" charset="-122"/>
                <a:cs typeface="Calibri" pitchFamily="34" charset="-120"/>
              </a:rPr>
              <a:t>Repositorio, base de datos, APIs externas — donde el cambio realmente ocurre.</a:t>
            </a:r>
            <a:endParaRPr lang="en-US" sz="1150" dirty="0"/>
          </a:p>
        </p:txBody>
      </p:sp>
      <p:sp>
        <p:nvSpPr>
          <p:cNvPr id="17"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CONCEPTOS COMPLEMENTARIOS</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Context engineering y RAG: de dónde saca el modelo la verdad</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CONTEXTO</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El modelo solo es tan bueno como el contexto que recibe. "Context engineering" es la disciplina de decidir qué información entra en cada prompt: spec, plan, memoria, resultados de herramientas.</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RAG (Retrieval-Augmented Generation) es la técnica más común para esto: buscar información relevante en una base de conocimiento externa antes de responder.</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Recuperación (retrieval)</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Buscar documentos o código relevante según la tarea actual.</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Generación aumentada</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El modelo responde usando lo recuperado, no solo su memoria.</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Ventana de contexto finita</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Hay que seleccionar y resumir; no todo cabe en un solo prompt.</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Fuente de verdad externa</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Evita que el modelo "invente" (alucine) datos del proyecto.</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En el ejemplo que describes, esto es lo que permite que el agente conozca el repositorio real en vez de asumir su estructura.</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CONCEPTOS COMPLEMENTARIOS</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Memoria y orquestación multiagente (MCP)</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COORDINACIÓN</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La memoria permite que el agente recuerde decisiones previas entre sesiones. La orquestación multiagente divide el trabajo entre varios agentes especializados que colaboran, cada uno con su propio rol.</a:t>
            </a:r>
            <a:endParaRPr lang="en-US" sz="1450" dirty="0"/>
          </a:p>
          <a:p>
            <a:pPr indent="0" marL="0">
              <a:lnSpc>
                <a:spcPts val="2100"/>
              </a:lnSpc>
              <a:buNone/>
            </a:pPr>
            <a:endParaRPr lang="en-US" sz="1450" dirty="0"/>
          </a:p>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MCP (Model Context Protocol) es el estándar que está ganando tracción en la industria para que los agentes se conecten a herramientas externas de forma uniforme.</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Memoria de corto plazo</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Contexto de la conversación o tarea actual.</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Memoria de largo plazo</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Decisiones, preferencias y estado del proyecto entre sesiones.</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Agente orquestador</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Reparte tareas del plan entre agentes especializados.</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Protocolo de herramientas (MCP)</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Conecta el agente a Git, bases de datos o APIs de forma estandarizada.</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Esto es lo que en tu descripción hace que "Codex" sepa qué skill usar sin que se lo repitas: memoria + protocolo de herramientas bien definido.</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CONCEPTOS COMPLEMENTARIOS</a:t>
            </a:r>
            <a:endParaRPr lang="en-US" sz="12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Guardrails, evaluaciones y supervisión humana</a:t>
            </a:r>
            <a:endParaRPr lang="en-US" sz="2800" dirty="0"/>
          </a:p>
        </p:txBody>
      </p:sp>
      <p:sp>
        <p:nvSpPr>
          <p:cNvPr id="4" name="Shape 2"/>
          <p:cNvSpPr/>
          <p:nvPr/>
        </p:nvSpPr>
        <p:spPr>
          <a:xfrm>
            <a:off x="548640" y="1645920"/>
            <a:ext cx="5120640" cy="4297680"/>
          </a:xfrm>
          <a:prstGeom prst="roundRect">
            <a:avLst>
              <a:gd name="adj" fmla="val 1702"/>
            </a:avLst>
          </a:prstGeom>
          <a:solidFill>
            <a:srgbClr val="1E2761"/>
          </a:solidFill>
          <a:ln/>
        </p:spPr>
      </p:sp>
      <p:sp>
        <p:nvSpPr>
          <p:cNvPr id="5" name="Shape 3"/>
          <p:cNvSpPr/>
          <p:nvPr/>
        </p:nvSpPr>
        <p:spPr>
          <a:xfrm>
            <a:off x="868680" y="1920240"/>
            <a:ext cx="1371600" cy="365760"/>
          </a:xfrm>
          <a:prstGeom prst="roundRect">
            <a:avLst>
              <a:gd name="adj" fmla="val 50000"/>
            </a:avLst>
          </a:prstGeom>
          <a:solidFill>
            <a:srgbClr val="00C2D1"/>
          </a:solidFill>
          <a:ln/>
        </p:spPr>
      </p:sp>
      <p:sp>
        <p:nvSpPr>
          <p:cNvPr id="6" name="Text 4"/>
          <p:cNvSpPr/>
          <p:nvPr/>
        </p:nvSpPr>
        <p:spPr>
          <a:xfrm>
            <a:off x="868680" y="1920240"/>
            <a:ext cx="137160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CONTROL DE CALIDAD</a:t>
            </a:r>
            <a:endParaRPr lang="en-US" sz="1100" dirty="0"/>
          </a:p>
        </p:txBody>
      </p:sp>
      <p:sp>
        <p:nvSpPr>
          <p:cNvPr id="7" name="Text 5"/>
          <p:cNvSpPr/>
          <p:nvPr/>
        </p:nvSpPr>
        <p:spPr>
          <a:xfrm>
            <a:off x="868680" y="2468880"/>
            <a:ext cx="4480560" cy="3200400"/>
          </a:xfrm>
          <a:prstGeom prst="rect">
            <a:avLst/>
          </a:prstGeom>
          <a:noFill/>
          <a:ln/>
        </p:spPr>
        <p:txBody>
          <a:bodyPr wrap="square" rtlCol="0" anchor="ctr"/>
          <a:lstStyle/>
          <a:p>
            <a:pPr indent="0" marL="0">
              <a:lnSpc>
                <a:spcPts val="2100"/>
              </a:lnSpc>
              <a:buNone/>
            </a:pPr>
            <a:r>
              <a:rPr lang="en-US" sz="1450" dirty="0">
                <a:solidFill>
                  <a:srgbClr val="FFFFFF"/>
                </a:solidFill>
                <a:latin typeface="Calibri" pitchFamily="34" charset="0"/>
                <a:ea typeface="Calibri" pitchFamily="34" charset="-122"/>
                <a:cs typeface="Calibri" pitchFamily="34" charset="-120"/>
              </a:rPr>
              <a:t>Ningún sistema serio de IA en producción se lanza sin mecanismos de control. Los guardrails limitan lo que el agente puede generar o ejecutar; las evaluaciones ("evals") miden si el sistema sigue funcionando bien tras cada cambio.</a:t>
            </a:r>
            <a:endParaRPr lang="en-US" sz="1450" dirty="0"/>
          </a:p>
        </p:txBody>
      </p:sp>
      <p:sp>
        <p:nvSpPr>
          <p:cNvPr id="8" name="Shape 6"/>
          <p:cNvSpPr/>
          <p:nvPr/>
        </p:nvSpPr>
        <p:spPr>
          <a:xfrm>
            <a:off x="5852160" y="1645920"/>
            <a:ext cx="5760720" cy="4297680"/>
          </a:xfrm>
          <a:prstGeom prst="roundRect">
            <a:avLst>
              <a:gd name="adj" fmla="val 1702"/>
            </a:avLst>
          </a:prstGeom>
          <a:solidFill>
            <a:srgbClr val="FFFFFF"/>
          </a:solidFill>
          <a:ln w="12700">
            <a:solidFill>
              <a:srgbClr val="E1E5F0"/>
            </a:solidFill>
            <a:prstDash val="solid"/>
          </a:ln>
        </p:spPr>
      </p:sp>
      <p:sp>
        <p:nvSpPr>
          <p:cNvPr id="9" name="Shape 7"/>
          <p:cNvSpPr/>
          <p:nvPr/>
        </p:nvSpPr>
        <p:spPr>
          <a:xfrm>
            <a:off x="6126480" y="1975104"/>
            <a:ext cx="128016" cy="128016"/>
          </a:xfrm>
          <a:prstGeom prst="ellipse">
            <a:avLst/>
          </a:prstGeom>
          <a:solidFill>
            <a:srgbClr val="00C2D1"/>
          </a:solidFill>
          <a:ln/>
        </p:spPr>
      </p:sp>
      <p:sp>
        <p:nvSpPr>
          <p:cNvPr id="10" name="Text 8"/>
          <p:cNvSpPr/>
          <p:nvPr/>
        </p:nvSpPr>
        <p:spPr>
          <a:xfrm>
            <a:off x="6382512" y="1847088"/>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Guardrails</a:t>
            </a:r>
            <a:endParaRPr lang="en-US" sz="1350" dirty="0"/>
          </a:p>
        </p:txBody>
      </p:sp>
      <p:sp>
        <p:nvSpPr>
          <p:cNvPr id="11" name="Text 9"/>
          <p:cNvSpPr/>
          <p:nvPr/>
        </p:nvSpPr>
        <p:spPr>
          <a:xfrm>
            <a:off x="6382512" y="2139696"/>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Reglas duras que bloquean acciones peligrosas o fuera de alcance.</a:t>
            </a:r>
            <a:endParaRPr lang="en-US" sz="1150" dirty="0"/>
          </a:p>
        </p:txBody>
      </p:sp>
      <p:sp>
        <p:nvSpPr>
          <p:cNvPr id="12" name="Shape 10"/>
          <p:cNvSpPr/>
          <p:nvPr/>
        </p:nvSpPr>
        <p:spPr>
          <a:xfrm>
            <a:off x="6126480" y="2816352"/>
            <a:ext cx="128016" cy="128016"/>
          </a:xfrm>
          <a:prstGeom prst="ellipse">
            <a:avLst/>
          </a:prstGeom>
          <a:solidFill>
            <a:srgbClr val="00C2D1"/>
          </a:solidFill>
          <a:ln/>
        </p:spPr>
      </p:sp>
      <p:sp>
        <p:nvSpPr>
          <p:cNvPr id="13" name="Text 11"/>
          <p:cNvSpPr/>
          <p:nvPr/>
        </p:nvSpPr>
        <p:spPr>
          <a:xfrm>
            <a:off x="6382512" y="2688336"/>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Evals automatizadas</a:t>
            </a:r>
            <a:endParaRPr lang="en-US" sz="1350" dirty="0"/>
          </a:p>
        </p:txBody>
      </p:sp>
      <p:sp>
        <p:nvSpPr>
          <p:cNvPr id="14" name="Text 12"/>
          <p:cNvSpPr/>
          <p:nvPr/>
        </p:nvSpPr>
        <p:spPr>
          <a:xfrm>
            <a:off x="6382512" y="2980944"/>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Pruebas que corren en cada cambio para detectar regresiones.</a:t>
            </a:r>
            <a:endParaRPr lang="en-US" sz="1150" dirty="0"/>
          </a:p>
        </p:txBody>
      </p:sp>
      <p:sp>
        <p:nvSpPr>
          <p:cNvPr id="15" name="Shape 13"/>
          <p:cNvSpPr/>
          <p:nvPr/>
        </p:nvSpPr>
        <p:spPr>
          <a:xfrm>
            <a:off x="6126480" y="3657600"/>
            <a:ext cx="128016" cy="128016"/>
          </a:xfrm>
          <a:prstGeom prst="ellipse">
            <a:avLst/>
          </a:prstGeom>
          <a:solidFill>
            <a:srgbClr val="00C2D1"/>
          </a:solidFill>
          <a:ln/>
        </p:spPr>
      </p:sp>
      <p:sp>
        <p:nvSpPr>
          <p:cNvPr id="16" name="Text 14"/>
          <p:cNvSpPr/>
          <p:nvPr/>
        </p:nvSpPr>
        <p:spPr>
          <a:xfrm>
            <a:off x="6382512" y="3529584"/>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Human-in-the-loop</a:t>
            </a:r>
            <a:endParaRPr lang="en-US" sz="1350" dirty="0"/>
          </a:p>
        </p:txBody>
      </p:sp>
      <p:sp>
        <p:nvSpPr>
          <p:cNvPr id="17" name="Text 15"/>
          <p:cNvSpPr/>
          <p:nvPr/>
        </p:nvSpPr>
        <p:spPr>
          <a:xfrm>
            <a:off x="6382512" y="3822192"/>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Puntos de aprobación humana antes de acciones irreversibles.</a:t>
            </a:r>
            <a:endParaRPr lang="en-US" sz="1150" dirty="0"/>
          </a:p>
        </p:txBody>
      </p:sp>
      <p:sp>
        <p:nvSpPr>
          <p:cNvPr id="18" name="Shape 16"/>
          <p:cNvSpPr/>
          <p:nvPr/>
        </p:nvSpPr>
        <p:spPr>
          <a:xfrm>
            <a:off x="6126480" y="4498848"/>
            <a:ext cx="128016" cy="128016"/>
          </a:xfrm>
          <a:prstGeom prst="ellipse">
            <a:avLst/>
          </a:prstGeom>
          <a:solidFill>
            <a:srgbClr val="00C2D1"/>
          </a:solidFill>
          <a:ln/>
        </p:spPr>
      </p:sp>
      <p:sp>
        <p:nvSpPr>
          <p:cNvPr id="19" name="Text 17"/>
          <p:cNvSpPr/>
          <p:nvPr/>
        </p:nvSpPr>
        <p:spPr>
          <a:xfrm>
            <a:off x="6382512" y="4370832"/>
            <a:ext cx="5029200" cy="320040"/>
          </a:xfrm>
          <a:prstGeom prst="rect">
            <a:avLst/>
          </a:prstGeom>
          <a:noFill/>
          <a:ln/>
        </p:spPr>
        <p:txBody>
          <a:bodyPr wrap="square" rtlCol="0" anchor="ctr"/>
          <a:lstStyle/>
          <a:p>
            <a:pPr indent="0" marL="0">
              <a:buNone/>
            </a:pPr>
            <a:r>
              <a:rPr lang="en-US" sz="1350" b="1" dirty="0">
                <a:solidFill>
                  <a:srgbClr val="1B1F3B"/>
                </a:solidFill>
                <a:latin typeface="Calibri" pitchFamily="34" charset="0"/>
                <a:ea typeface="Calibri" pitchFamily="34" charset="-122"/>
                <a:cs typeface="Calibri" pitchFamily="34" charset="-120"/>
              </a:rPr>
              <a:t>Observabilidad</a:t>
            </a:r>
            <a:endParaRPr lang="en-US" sz="1350" dirty="0"/>
          </a:p>
        </p:txBody>
      </p:sp>
      <p:sp>
        <p:nvSpPr>
          <p:cNvPr id="20" name="Text 18"/>
          <p:cNvSpPr/>
          <p:nvPr/>
        </p:nvSpPr>
        <p:spPr>
          <a:xfrm>
            <a:off x="6382512" y="4663440"/>
            <a:ext cx="5074920" cy="548640"/>
          </a:xfrm>
          <a:prstGeom prst="rect">
            <a:avLst/>
          </a:prstGeom>
          <a:noFill/>
          <a:ln/>
        </p:spPr>
        <p:txBody>
          <a:bodyPr wrap="square" rtlCol="0" anchor="ctr"/>
          <a:lstStyle/>
          <a:p>
            <a:pPr indent="0" marL="0">
              <a:lnSpc>
                <a:spcPts val="1500"/>
              </a:lnSpc>
              <a:buNone/>
            </a:pPr>
            <a:r>
              <a:rPr lang="en-US" sz="1150" dirty="0">
                <a:solidFill>
                  <a:srgbClr val="5B6178"/>
                </a:solidFill>
                <a:latin typeface="Calibri" pitchFamily="34" charset="0"/>
                <a:ea typeface="Calibri" pitchFamily="34" charset="-122"/>
                <a:cs typeface="Calibri" pitchFamily="34" charset="-120"/>
              </a:rPr>
              <a:t>Logs y métricas para entender por qué el agente hizo algo.</a:t>
            </a:r>
            <a:endParaRPr lang="en-US" sz="1150" dirty="0"/>
          </a:p>
        </p:txBody>
      </p:sp>
      <p:sp>
        <p:nvSpPr>
          <p:cNvPr id="21" name="Text 19"/>
          <p:cNvSpPr/>
          <p:nvPr/>
        </p:nvSpPr>
        <p:spPr>
          <a:xfrm>
            <a:off x="548640" y="6080760"/>
            <a:ext cx="10881360" cy="365760"/>
          </a:xfrm>
          <a:prstGeom prst="rect">
            <a:avLst/>
          </a:prstGeom>
          <a:noFill/>
          <a:ln/>
        </p:spPr>
        <p:txBody>
          <a:bodyPr wrap="square" rtlCol="0" anchor="ctr"/>
          <a:lstStyle/>
          <a:p>
            <a:pPr indent="0" marL="0">
              <a:buNone/>
            </a:pPr>
            <a:r>
              <a:rPr lang="en-US" sz="1150" i="1" dirty="0">
                <a:solidFill>
                  <a:srgbClr val="5B6178"/>
                </a:solidFill>
                <a:latin typeface="Calibri" pitchFamily="34" charset="0"/>
                <a:ea typeface="Calibri" pitchFamily="34" charset="-122"/>
                <a:cs typeface="Calibri" pitchFamily="34" charset="-120"/>
              </a:rPr>
              <a:t>Sin esto, un pipeline de "spec → plan → prompt → skills" ejecuta rápido, pero sin red de seguridad.</a:t>
            </a:r>
            <a:endParaRPr lang="en-US" sz="115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APLICACIÓN EN LA INDUSTRIA</a:t>
            </a:r>
            <a:endParaRPr lang="en-US" sz="1200" dirty="0"/>
          </a:p>
        </p:txBody>
      </p:sp>
      <p:sp>
        <p:nvSpPr>
          <p:cNvPr id="3" name="Text 1"/>
          <p:cNvSpPr/>
          <p:nvPr/>
        </p:nvSpPr>
        <p:spPr>
          <a:xfrm>
            <a:off x="548640" y="777240"/>
            <a:ext cx="10789920" cy="548640"/>
          </a:xfrm>
          <a:prstGeom prst="rect">
            <a:avLst/>
          </a:prstGeom>
          <a:noFill/>
          <a:ln/>
        </p:spPr>
        <p:txBody>
          <a:bodyPr wrap="square" rtlCol="0" anchor="ctr"/>
          <a:lstStyle/>
          <a:p>
            <a:pPr indent="0" marL="0">
              <a:buNone/>
            </a:pPr>
            <a:r>
              <a:rPr lang="en-US" sz="2800" b="1" dirty="0">
                <a:solidFill>
                  <a:srgbClr val="1B1F3B"/>
                </a:solidFill>
                <a:latin typeface="Cambria" pitchFamily="34" charset="0"/>
                <a:ea typeface="Cambria" pitchFamily="34" charset="-122"/>
                <a:cs typeface="Cambria" pitchFamily="34" charset="-120"/>
              </a:rPr>
              <a:t>Qué se hace y qué no se hace en producción</a:t>
            </a:r>
            <a:endParaRPr lang="en-US" sz="2800" dirty="0"/>
          </a:p>
        </p:txBody>
      </p:sp>
      <p:sp>
        <p:nvSpPr>
          <p:cNvPr id="4" name="Shape 2"/>
          <p:cNvSpPr/>
          <p:nvPr/>
        </p:nvSpPr>
        <p:spPr>
          <a:xfrm>
            <a:off x="548640" y="1600200"/>
            <a:ext cx="5257800" cy="4480560"/>
          </a:xfrm>
          <a:prstGeom prst="roundRect">
            <a:avLst>
              <a:gd name="adj" fmla="val 1633"/>
            </a:avLst>
          </a:prstGeom>
          <a:solidFill>
            <a:srgbClr val="FFFFFF"/>
          </a:solidFill>
          <a:ln w="19050">
            <a:solidFill>
              <a:srgbClr val="BFE3C9"/>
            </a:solidFill>
            <a:prstDash val="solid"/>
          </a:ln>
        </p:spPr>
      </p:sp>
      <p:sp>
        <p:nvSpPr>
          <p:cNvPr id="5" name="Text 3"/>
          <p:cNvSpPr/>
          <p:nvPr/>
        </p:nvSpPr>
        <p:spPr>
          <a:xfrm>
            <a:off x="868680" y="1828800"/>
            <a:ext cx="4617720" cy="365760"/>
          </a:xfrm>
          <a:prstGeom prst="rect">
            <a:avLst/>
          </a:prstGeom>
          <a:noFill/>
          <a:ln/>
        </p:spPr>
        <p:txBody>
          <a:bodyPr wrap="square" rtlCol="0" anchor="ctr"/>
          <a:lstStyle/>
          <a:p>
            <a:pPr indent="0" marL="0">
              <a:buNone/>
            </a:pPr>
            <a:r>
              <a:rPr lang="en-US" sz="1500" b="1" dirty="0">
                <a:solidFill>
                  <a:srgbClr val="1F8A4C"/>
                </a:solidFill>
                <a:latin typeface="Calibri" pitchFamily="34" charset="0"/>
                <a:ea typeface="Calibri" pitchFamily="34" charset="-122"/>
                <a:cs typeface="Calibri" pitchFamily="34" charset="-120"/>
              </a:rPr>
              <a:t>SÍ SE HACE</a:t>
            </a:r>
            <a:endParaRPr lang="en-US" sz="1500" dirty="0"/>
          </a:p>
        </p:txBody>
      </p:sp>
      <p:sp>
        <p:nvSpPr>
          <p:cNvPr id="6" name="Shape 4"/>
          <p:cNvSpPr/>
          <p:nvPr/>
        </p:nvSpPr>
        <p:spPr>
          <a:xfrm>
            <a:off x="868680" y="2423160"/>
            <a:ext cx="109728" cy="109728"/>
          </a:xfrm>
          <a:prstGeom prst="ellipse">
            <a:avLst/>
          </a:prstGeom>
          <a:solidFill>
            <a:srgbClr val="1F8A4C"/>
          </a:solidFill>
          <a:ln/>
        </p:spPr>
      </p:sp>
      <p:sp>
        <p:nvSpPr>
          <p:cNvPr id="7" name="Text 5"/>
          <p:cNvSpPr/>
          <p:nvPr/>
        </p:nvSpPr>
        <p:spPr>
          <a:xfrm>
            <a:off x="1097280" y="2304288"/>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Versionar specs y planes junto al código, en el repositorio.</a:t>
            </a:r>
            <a:endParaRPr lang="en-US" sz="1250" dirty="0"/>
          </a:p>
        </p:txBody>
      </p:sp>
      <p:sp>
        <p:nvSpPr>
          <p:cNvPr id="8" name="Shape 6"/>
          <p:cNvSpPr/>
          <p:nvPr/>
        </p:nvSpPr>
        <p:spPr>
          <a:xfrm>
            <a:off x="868680" y="3172968"/>
            <a:ext cx="109728" cy="109728"/>
          </a:xfrm>
          <a:prstGeom prst="ellipse">
            <a:avLst/>
          </a:prstGeom>
          <a:solidFill>
            <a:srgbClr val="1F8A4C"/>
          </a:solidFill>
          <a:ln/>
        </p:spPr>
      </p:sp>
      <p:sp>
        <p:nvSpPr>
          <p:cNvPr id="9" name="Text 7"/>
          <p:cNvSpPr/>
          <p:nvPr/>
        </p:nvSpPr>
        <p:spPr>
          <a:xfrm>
            <a:off x="1097280" y="3054096"/>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Limitar el alcance de cada tarea a un cambio pequeño y verificable.</a:t>
            </a:r>
            <a:endParaRPr lang="en-US" sz="1250" dirty="0"/>
          </a:p>
        </p:txBody>
      </p:sp>
      <p:sp>
        <p:nvSpPr>
          <p:cNvPr id="10" name="Shape 8"/>
          <p:cNvSpPr/>
          <p:nvPr/>
        </p:nvSpPr>
        <p:spPr>
          <a:xfrm>
            <a:off x="868680" y="3922776"/>
            <a:ext cx="109728" cy="109728"/>
          </a:xfrm>
          <a:prstGeom prst="ellipse">
            <a:avLst/>
          </a:prstGeom>
          <a:solidFill>
            <a:srgbClr val="1F8A4C"/>
          </a:solidFill>
          <a:ln/>
        </p:spPr>
      </p:sp>
      <p:sp>
        <p:nvSpPr>
          <p:cNvPr id="11" name="Text 9"/>
          <p:cNvSpPr/>
          <p:nvPr/>
        </p:nvSpPr>
        <p:spPr>
          <a:xfrm>
            <a:off x="1097280" y="3803904"/>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Definir permisos por tarea (grants) en vez de acceso total.</a:t>
            </a:r>
            <a:endParaRPr lang="en-US" sz="1250" dirty="0"/>
          </a:p>
        </p:txBody>
      </p:sp>
      <p:sp>
        <p:nvSpPr>
          <p:cNvPr id="12" name="Shape 10"/>
          <p:cNvSpPr/>
          <p:nvPr/>
        </p:nvSpPr>
        <p:spPr>
          <a:xfrm>
            <a:off x="868680" y="4672584"/>
            <a:ext cx="109728" cy="109728"/>
          </a:xfrm>
          <a:prstGeom prst="ellipse">
            <a:avLst/>
          </a:prstGeom>
          <a:solidFill>
            <a:srgbClr val="1F8A4C"/>
          </a:solidFill>
          <a:ln/>
        </p:spPr>
      </p:sp>
      <p:sp>
        <p:nvSpPr>
          <p:cNvPr id="13" name="Text 11"/>
          <p:cNvSpPr/>
          <p:nvPr/>
        </p:nvSpPr>
        <p:spPr>
          <a:xfrm>
            <a:off x="1097280" y="4553712"/>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Correr evaluaciones automáticas antes de aceptar un cambio.</a:t>
            </a:r>
            <a:endParaRPr lang="en-US" sz="1250" dirty="0"/>
          </a:p>
        </p:txBody>
      </p:sp>
      <p:sp>
        <p:nvSpPr>
          <p:cNvPr id="14" name="Shape 12"/>
          <p:cNvSpPr/>
          <p:nvPr/>
        </p:nvSpPr>
        <p:spPr>
          <a:xfrm>
            <a:off x="868680" y="5422392"/>
            <a:ext cx="109728" cy="109728"/>
          </a:xfrm>
          <a:prstGeom prst="ellipse">
            <a:avLst/>
          </a:prstGeom>
          <a:solidFill>
            <a:srgbClr val="1F8A4C"/>
          </a:solidFill>
          <a:ln/>
        </p:spPr>
      </p:sp>
      <p:sp>
        <p:nvSpPr>
          <p:cNvPr id="15" name="Text 13"/>
          <p:cNvSpPr/>
          <p:nvPr/>
        </p:nvSpPr>
        <p:spPr>
          <a:xfrm>
            <a:off x="1097280" y="5303520"/>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Registrar cada acción del agente para poder auditar.</a:t>
            </a:r>
            <a:endParaRPr lang="en-US" sz="1250" dirty="0"/>
          </a:p>
        </p:txBody>
      </p:sp>
      <p:sp>
        <p:nvSpPr>
          <p:cNvPr id="16" name="Shape 14"/>
          <p:cNvSpPr/>
          <p:nvPr/>
        </p:nvSpPr>
        <p:spPr>
          <a:xfrm>
            <a:off x="6172200" y="1600200"/>
            <a:ext cx="5257800" cy="4480560"/>
          </a:xfrm>
          <a:prstGeom prst="roundRect">
            <a:avLst>
              <a:gd name="adj" fmla="val 1633"/>
            </a:avLst>
          </a:prstGeom>
          <a:solidFill>
            <a:srgbClr val="FFFFFF"/>
          </a:solidFill>
          <a:ln w="19050">
            <a:solidFill>
              <a:srgbClr val="F3C6C6"/>
            </a:solidFill>
            <a:prstDash val="solid"/>
          </a:ln>
        </p:spPr>
      </p:sp>
      <p:sp>
        <p:nvSpPr>
          <p:cNvPr id="17" name="Text 15"/>
          <p:cNvSpPr/>
          <p:nvPr/>
        </p:nvSpPr>
        <p:spPr>
          <a:xfrm>
            <a:off x="6492240" y="1828800"/>
            <a:ext cx="4617720" cy="365760"/>
          </a:xfrm>
          <a:prstGeom prst="rect">
            <a:avLst/>
          </a:prstGeom>
          <a:noFill/>
          <a:ln/>
        </p:spPr>
        <p:txBody>
          <a:bodyPr wrap="square"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NO SE HACE</a:t>
            </a:r>
            <a:endParaRPr lang="en-US" sz="1500" dirty="0"/>
          </a:p>
        </p:txBody>
      </p:sp>
      <p:sp>
        <p:nvSpPr>
          <p:cNvPr id="18" name="Shape 16"/>
          <p:cNvSpPr/>
          <p:nvPr/>
        </p:nvSpPr>
        <p:spPr>
          <a:xfrm>
            <a:off x="6492240" y="2423160"/>
            <a:ext cx="109728" cy="109728"/>
          </a:xfrm>
          <a:prstGeom prst="ellipse">
            <a:avLst/>
          </a:prstGeom>
          <a:solidFill>
            <a:srgbClr val="C0392B"/>
          </a:solidFill>
          <a:ln/>
        </p:spPr>
      </p:sp>
      <p:sp>
        <p:nvSpPr>
          <p:cNvPr id="19" name="Text 17"/>
          <p:cNvSpPr/>
          <p:nvPr/>
        </p:nvSpPr>
        <p:spPr>
          <a:xfrm>
            <a:off x="6720840" y="2304288"/>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Dar al agente acceso total al repositorio o a producción "por comodidad".</a:t>
            </a:r>
            <a:endParaRPr lang="en-US" sz="1250" dirty="0"/>
          </a:p>
        </p:txBody>
      </p:sp>
      <p:sp>
        <p:nvSpPr>
          <p:cNvPr id="20" name="Shape 18"/>
          <p:cNvSpPr/>
          <p:nvPr/>
        </p:nvSpPr>
        <p:spPr>
          <a:xfrm>
            <a:off x="6492240" y="3172968"/>
            <a:ext cx="109728" cy="109728"/>
          </a:xfrm>
          <a:prstGeom prst="ellipse">
            <a:avLst/>
          </a:prstGeom>
          <a:solidFill>
            <a:srgbClr val="C0392B"/>
          </a:solidFill>
          <a:ln/>
        </p:spPr>
      </p:sp>
      <p:sp>
        <p:nvSpPr>
          <p:cNvPr id="21" name="Text 19"/>
          <p:cNvSpPr/>
          <p:nvPr/>
        </p:nvSpPr>
        <p:spPr>
          <a:xfrm>
            <a:off x="6720840" y="3054096"/>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Pedir tareas enormes sin plan intermedio ni checkpoints.</a:t>
            </a:r>
            <a:endParaRPr lang="en-US" sz="1250" dirty="0"/>
          </a:p>
        </p:txBody>
      </p:sp>
      <p:sp>
        <p:nvSpPr>
          <p:cNvPr id="22" name="Shape 20"/>
          <p:cNvSpPr/>
          <p:nvPr/>
        </p:nvSpPr>
        <p:spPr>
          <a:xfrm>
            <a:off x="6492240" y="3922776"/>
            <a:ext cx="109728" cy="109728"/>
          </a:xfrm>
          <a:prstGeom prst="ellipse">
            <a:avLst/>
          </a:prstGeom>
          <a:solidFill>
            <a:srgbClr val="C0392B"/>
          </a:solidFill>
          <a:ln/>
        </p:spPr>
      </p:sp>
      <p:sp>
        <p:nvSpPr>
          <p:cNvPr id="23" name="Text 21"/>
          <p:cNvSpPr/>
          <p:nvPr/>
        </p:nvSpPr>
        <p:spPr>
          <a:xfrm>
            <a:off x="6720840" y="3803904"/>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Aceptar código generado sin revisión humana en cambios críticos.</a:t>
            </a:r>
            <a:endParaRPr lang="en-US" sz="1250" dirty="0"/>
          </a:p>
        </p:txBody>
      </p:sp>
      <p:sp>
        <p:nvSpPr>
          <p:cNvPr id="24" name="Shape 22"/>
          <p:cNvSpPr/>
          <p:nvPr/>
        </p:nvSpPr>
        <p:spPr>
          <a:xfrm>
            <a:off x="6492240" y="4672584"/>
            <a:ext cx="109728" cy="109728"/>
          </a:xfrm>
          <a:prstGeom prst="ellipse">
            <a:avLst/>
          </a:prstGeom>
          <a:solidFill>
            <a:srgbClr val="C0392B"/>
          </a:solidFill>
          <a:ln/>
        </p:spPr>
      </p:sp>
      <p:sp>
        <p:nvSpPr>
          <p:cNvPr id="25" name="Text 23"/>
          <p:cNvSpPr/>
          <p:nvPr/>
        </p:nvSpPr>
        <p:spPr>
          <a:xfrm>
            <a:off x="6720840" y="4553712"/>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Reescribir el mismo prompt a mano en cada tarea repetitiva.</a:t>
            </a:r>
            <a:endParaRPr lang="en-US" sz="1250" dirty="0"/>
          </a:p>
        </p:txBody>
      </p:sp>
      <p:sp>
        <p:nvSpPr>
          <p:cNvPr id="26" name="Shape 24"/>
          <p:cNvSpPr/>
          <p:nvPr/>
        </p:nvSpPr>
        <p:spPr>
          <a:xfrm>
            <a:off x="6492240" y="5422392"/>
            <a:ext cx="109728" cy="109728"/>
          </a:xfrm>
          <a:prstGeom prst="ellipse">
            <a:avLst/>
          </a:prstGeom>
          <a:solidFill>
            <a:srgbClr val="C0392B"/>
          </a:solidFill>
          <a:ln/>
        </p:spPr>
      </p:sp>
      <p:sp>
        <p:nvSpPr>
          <p:cNvPr id="27" name="Text 25"/>
          <p:cNvSpPr/>
          <p:nvPr/>
        </p:nvSpPr>
        <p:spPr>
          <a:xfrm>
            <a:off x="6720840" y="5303520"/>
            <a:ext cx="4434840" cy="594360"/>
          </a:xfrm>
          <a:prstGeom prst="rect">
            <a:avLst/>
          </a:prstGeom>
          <a:noFill/>
          <a:ln/>
        </p:spPr>
        <p:txBody>
          <a:bodyPr wrap="square" rtlCol="0" anchor="ctr"/>
          <a:lstStyle/>
          <a:p>
            <a:pPr indent="0" marL="0">
              <a:lnSpc>
                <a:spcPts val="1600"/>
              </a:lnSpc>
              <a:buNone/>
            </a:pPr>
            <a:r>
              <a:rPr lang="en-US" sz="1250" dirty="0">
                <a:solidFill>
                  <a:srgbClr val="1B1F3B"/>
                </a:solidFill>
                <a:latin typeface="Calibri" pitchFamily="34" charset="0"/>
                <a:ea typeface="Calibri" pitchFamily="34" charset="-122"/>
                <a:cs typeface="Calibri" pitchFamily="34" charset="-120"/>
              </a:rPr>
              <a:t>Desplegar sin logs de qué hizo el agente y por qué.</a:t>
            </a:r>
            <a:endParaRPr lang="en-US" sz="1250" dirty="0"/>
          </a:p>
        </p:txBody>
      </p:sp>
      <p:sp>
        <p:nvSpPr>
          <p:cNvPr id="28"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 y="-1097280"/>
            <a:ext cx="3200400" cy="3200400"/>
          </a:xfrm>
          <a:prstGeom prst="ellipse">
            <a:avLst/>
          </a:prstGeom>
          <a:solidFill>
            <a:srgbClr val="26326E"/>
          </a:solidFill>
          <a:ln/>
        </p:spPr>
      </p:sp>
      <p:sp>
        <p:nvSpPr>
          <p:cNvPr id="3" name="Shape 1"/>
          <p:cNvSpPr/>
          <p:nvPr/>
        </p:nvSpPr>
        <p:spPr>
          <a:xfrm>
            <a:off x="10515600" y="5029200"/>
            <a:ext cx="2377440" cy="2377440"/>
          </a:xfrm>
          <a:prstGeom prst="ellipse">
            <a:avLst/>
          </a:prstGeom>
          <a:solidFill>
            <a:srgbClr val="26326E"/>
          </a:solidFill>
          <a:ln/>
        </p:spPr>
      </p:sp>
      <p:sp>
        <p:nvSpPr>
          <p:cNvPr id="4" name="Text 2"/>
          <p:cNvSpPr/>
          <p:nvPr/>
        </p:nvSpPr>
        <p:spPr>
          <a:xfrm>
            <a:off x="731520" y="914400"/>
            <a:ext cx="7315200" cy="365760"/>
          </a:xfrm>
          <a:prstGeom prst="rect">
            <a:avLst/>
          </a:prstGeom>
          <a:noFill/>
          <a:ln/>
        </p:spPr>
        <p:txBody>
          <a:bodyPr wrap="square" rtlCol="0" anchor="ctr"/>
          <a:lstStyle/>
          <a:p>
            <a:pPr indent="0" marL="0">
              <a:buNone/>
            </a:pPr>
            <a:r>
              <a:rPr lang="en-US" sz="1300" b="1" spc="200" kern="0" dirty="0">
                <a:solidFill>
                  <a:srgbClr val="00C2D1"/>
                </a:solidFill>
                <a:latin typeface="Calibri" pitchFamily="34" charset="0"/>
                <a:ea typeface="Calibri" pitchFamily="34" charset="-122"/>
                <a:cs typeface="Calibri" pitchFamily="34" charset="-120"/>
              </a:rPr>
              <a:t>EN RESUMEN</a:t>
            </a:r>
            <a:endParaRPr lang="en-US" sz="1300" dirty="0"/>
          </a:p>
        </p:txBody>
      </p:sp>
      <p:sp>
        <p:nvSpPr>
          <p:cNvPr id="5" name="Text 3"/>
          <p:cNvSpPr/>
          <p:nvPr/>
        </p:nvSpPr>
        <p:spPr>
          <a:xfrm>
            <a:off x="731520" y="1371600"/>
            <a:ext cx="10332720" cy="1645920"/>
          </a:xfrm>
          <a:prstGeom prst="rect">
            <a:avLst/>
          </a:prstGeom>
          <a:noFill/>
          <a:ln/>
        </p:spPr>
        <p:txBody>
          <a:bodyPr wrap="square"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Un agente de IA útil en producción no es magia:</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es spec + plan + prompt + skills, dentro de un marco de gobernanza.</a:t>
            </a:r>
            <a:endParaRPr lang="en-US" sz="3000" dirty="0"/>
          </a:p>
        </p:txBody>
      </p:sp>
      <p:sp>
        <p:nvSpPr>
          <p:cNvPr id="6" name="Shape 4"/>
          <p:cNvSpPr/>
          <p:nvPr/>
        </p:nvSpPr>
        <p:spPr>
          <a:xfrm>
            <a:off x="731520" y="3383280"/>
            <a:ext cx="978408" cy="502920"/>
          </a:xfrm>
          <a:prstGeom prst="roundRect">
            <a:avLst>
              <a:gd name="adj" fmla="val 18182"/>
            </a:avLst>
          </a:prstGeom>
          <a:solidFill>
            <a:srgbClr val="2B3878"/>
          </a:solidFill>
          <a:ln/>
        </p:spPr>
      </p:sp>
      <p:sp>
        <p:nvSpPr>
          <p:cNvPr id="7" name="Text 5"/>
          <p:cNvSpPr/>
          <p:nvPr/>
        </p:nvSpPr>
        <p:spPr>
          <a:xfrm>
            <a:off x="731520" y="3383280"/>
            <a:ext cx="978408"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p>
        </p:txBody>
      </p:sp>
      <p:sp>
        <p:nvSpPr>
          <p:cNvPr id="8" name="Shape 6"/>
          <p:cNvSpPr/>
          <p:nvPr/>
        </p:nvSpPr>
        <p:spPr>
          <a:xfrm>
            <a:off x="1892808" y="3383280"/>
            <a:ext cx="978408" cy="502920"/>
          </a:xfrm>
          <a:prstGeom prst="roundRect">
            <a:avLst>
              <a:gd name="adj" fmla="val 18182"/>
            </a:avLst>
          </a:prstGeom>
          <a:solidFill>
            <a:srgbClr val="2B3878"/>
          </a:solidFill>
          <a:ln/>
        </p:spPr>
      </p:sp>
      <p:sp>
        <p:nvSpPr>
          <p:cNvPr id="9" name="Text 7"/>
          <p:cNvSpPr/>
          <p:nvPr/>
        </p:nvSpPr>
        <p:spPr>
          <a:xfrm>
            <a:off x="1892808" y="3383280"/>
            <a:ext cx="978408"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10" name="Shape 8"/>
          <p:cNvSpPr/>
          <p:nvPr/>
        </p:nvSpPr>
        <p:spPr>
          <a:xfrm>
            <a:off x="3054096" y="3383280"/>
            <a:ext cx="1216152" cy="502920"/>
          </a:xfrm>
          <a:prstGeom prst="roundRect">
            <a:avLst>
              <a:gd name="adj" fmla="val 18182"/>
            </a:avLst>
          </a:prstGeom>
          <a:solidFill>
            <a:srgbClr val="2B3878"/>
          </a:solidFill>
          <a:ln/>
        </p:spPr>
      </p:sp>
      <p:sp>
        <p:nvSpPr>
          <p:cNvPr id="11" name="Text 9"/>
          <p:cNvSpPr/>
          <p:nvPr/>
        </p:nvSpPr>
        <p:spPr>
          <a:xfrm>
            <a:off x="3054096" y="3383280"/>
            <a:ext cx="1216152"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Prompt</a:t>
            </a:r>
            <a:endParaRPr lang="en-US" sz="1200" dirty="0"/>
          </a:p>
        </p:txBody>
      </p:sp>
      <p:sp>
        <p:nvSpPr>
          <p:cNvPr id="12" name="Shape 10"/>
          <p:cNvSpPr/>
          <p:nvPr/>
        </p:nvSpPr>
        <p:spPr>
          <a:xfrm>
            <a:off x="4453128" y="3383280"/>
            <a:ext cx="1216152" cy="502920"/>
          </a:xfrm>
          <a:prstGeom prst="roundRect">
            <a:avLst>
              <a:gd name="adj" fmla="val 18182"/>
            </a:avLst>
          </a:prstGeom>
          <a:solidFill>
            <a:srgbClr val="2B3878"/>
          </a:solidFill>
          <a:ln/>
        </p:spPr>
      </p:sp>
      <p:sp>
        <p:nvSpPr>
          <p:cNvPr id="13" name="Text 11"/>
          <p:cNvSpPr/>
          <p:nvPr/>
        </p:nvSpPr>
        <p:spPr>
          <a:xfrm>
            <a:off x="4453128" y="3383280"/>
            <a:ext cx="1216152"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Skills</a:t>
            </a:r>
            <a:endParaRPr lang="en-US" sz="1200" dirty="0"/>
          </a:p>
        </p:txBody>
      </p:sp>
      <p:sp>
        <p:nvSpPr>
          <p:cNvPr id="14" name="Shape 12"/>
          <p:cNvSpPr/>
          <p:nvPr/>
        </p:nvSpPr>
        <p:spPr>
          <a:xfrm>
            <a:off x="5852160" y="3383280"/>
            <a:ext cx="1691640" cy="502920"/>
          </a:xfrm>
          <a:prstGeom prst="roundRect">
            <a:avLst>
              <a:gd name="adj" fmla="val 18182"/>
            </a:avLst>
          </a:prstGeom>
          <a:solidFill>
            <a:srgbClr val="2B3878"/>
          </a:solidFill>
          <a:ln/>
        </p:spPr>
      </p:sp>
      <p:sp>
        <p:nvSpPr>
          <p:cNvPr id="15" name="Text 13"/>
          <p:cNvSpPr/>
          <p:nvPr/>
        </p:nvSpPr>
        <p:spPr>
          <a:xfrm>
            <a:off x="5852160" y="3383280"/>
            <a:ext cx="169164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Gobernanza</a:t>
            </a:r>
            <a:endParaRPr lang="en-US" sz="1200" dirty="0"/>
          </a:p>
        </p:txBody>
      </p:sp>
      <p:sp>
        <p:nvSpPr>
          <p:cNvPr id="16" name="Shape 14"/>
          <p:cNvSpPr/>
          <p:nvPr/>
        </p:nvSpPr>
        <p:spPr>
          <a:xfrm>
            <a:off x="7726680" y="3383280"/>
            <a:ext cx="2642616" cy="502920"/>
          </a:xfrm>
          <a:prstGeom prst="roundRect">
            <a:avLst>
              <a:gd name="adj" fmla="val 18182"/>
            </a:avLst>
          </a:prstGeom>
          <a:solidFill>
            <a:srgbClr val="2B3878"/>
          </a:solidFill>
          <a:ln/>
        </p:spPr>
      </p:sp>
      <p:sp>
        <p:nvSpPr>
          <p:cNvPr id="17" name="Text 15"/>
          <p:cNvSpPr/>
          <p:nvPr/>
        </p:nvSpPr>
        <p:spPr>
          <a:xfrm>
            <a:off x="7726680" y="3383280"/>
            <a:ext cx="2642616"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Clean Architecture</a:t>
            </a:r>
            <a:endParaRPr lang="en-US" sz="1200" dirty="0"/>
          </a:p>
        </p:txBody>
      </p:sp>
      <p:sp>
        <p:nvSpPr>
          <p:cNvPr id="18" name="Text 16"/>
          <p:cNvSpPr/>
          <p:nvPr/>
        </p:nvSpPr>
        <p:spPr>
          <a:xfrm>
            <a:off x="731520" y="5212080"/>
            <a:ext cx="10332720" cy="1097280"/>
          </a:xfrm>
          <a:prstGeom prst="rect">
            <a:avLst/>
          </a:prstGeom>
          <a:noFill/>
          <a:ln/>
        </p:spPr>
        <p:txBody>
          <a:bodyPr wrap="square" rtlCol="0" anchor="ctr"/>
          <a:lstStyle/>
          <a:p>
            <a:pPr indent="0" marL="0">
              <a:lnSpc>
                <a:spcPts val="2000"/>
              </a:lnSpc>
              <a:buNone/>
            </a:pPr>
            <a:r>
              <a:rPr lang="en-US" sz="1400" dirty="0">
                <a:solidFill>
                  <a:srgbClr val="CADCFC"/>
                </a:solidFill>
                <a:latin typeface="Calibri" pitchFamily="34" charset="0"/>
                <a:ea typeface="Calibri" pitchFamily="34" charset="-122"/>
                <a:cs typeface="Calibri" pitchFamily="34" charset="-120"/>
              </a:rPr>
              <a:t>Con esto puedes justificar en tu exposición por qué la arquitectura de tu compañera (grants + gobernanza + clean architecture + skills) sigue el mismo patrón que usa la industria — no es una idea aislada, es un estándar emergente.</a:t>
            </a:r>
            <a:endParaRPr lang="en-US" sz="1400" dirty="0"/>
          </a:p>
        </p:txBody>
      </p:sp>
      <p:sp>
        <p:nvSpPr>
          <p:cNvPr id="19"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2026-08-31T07:01:38Z</dcterms:created>
  <dcterms:modified xsi:type="dcterms:W3CDTF">2026-08-31T07:01:38Z</dcterms:modified>
</cp:coreProperties>
</file>